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66928"/>
            <a:ext cx="4754880" cy="56692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D6E1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969264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5C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PRESENTS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1325880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1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AI Mascot for Acme Client</a:t>
            </a:r>
            <a:endParaRPr lang="en-US" sz="4100" dirty="0"/>
          </a:p>
        </p:txBody>
      </p:sp>
      <p:sp>
        <p:nvSpPr>
          <p:cNvPr id="5" name="Text 3"/>
          <p:cNvSpPr/>
          <p:nvPr/>
        </p:nvSpPr>
        <p:spPr>
          <a:xfrm>
            <a:off x="914400" y="2542032"/>
            <a:ext cx="42062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34E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playful, animated chatbot experience that feels premium and converts.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5266944"/>
            <a:ext cx="2651760" cy="438912"/>
          </a:xfrm>
          <a:prstGeom prst="roundRect">
            <a:avLst>
              <a:gd name="adj" fmla="val 16667"/>
            </a:avLst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541324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3C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June 2026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559552" y="713232"/>
            <a:ext cx="5897880" cy="3317558"/>
          </a:xfrm>
          <a:prstGeom prst="roundRect">
            <a:avLst>
              <a:gd name="adj" fmla="val 2205"/>
            </a:avLst>
          </a:prstGeom>
          <a:solidFill>
            <a:srgbClr val="F7FAFD"/>
          </a:solidFill>
          <a:ln w="12700">
            <a:solidFill>
              <a:srgbClr val="C8D7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42432" y="822960"/>
            <a:ext cx="5532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[Visual]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742432" y="1033272"/>
            <a:ext cx="5577840" cy="286035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A6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 (cover) :: Premium clean slide visual for "AI Mascot Proposal". Notso style, mascot-forward, high whitespace, colors #004B49, #30D89E, #0B6E6C, no text overlays.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67665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05840" y="621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The Problem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05840" y="115214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6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blocking growth today.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1691640"/>
            <a:ext cx="3438144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E2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1993392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5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Acme Client loses conversion momentum when visitors do not get instant answers.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26864" y="1691640"/>
            <a:ext cx="3438144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E2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28032" y="1993392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5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 teams repeatedly handle similar questions manually.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339328" y="1691640"/>
            <a:ext cx="3438144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E2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40496" y="1993392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5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Automation on acme-client.com feels generic and not brand-distinctive.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3246120"/>
            <a:ext cx="67208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7E2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3520440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Key Message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3840480"/>
            <a:ext cx="6217920" cy="1508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746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Acme Client loses conversion momentum when visitors do not get instant answers.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882128" y="3246120"/>
            <a:ext cx="3108960" cy="2331720"/>
          </a:xfrm>
          <a:prstGeom prst="roundRect">
            <a:avLst>
              <a:gd name="adj" fmla="val 3137"/>
            </a:avLst>
          </a:prstGeom>
          <a:solidFill>
            <a:srgbClr val="F7FAFD"/>
          </a:solidFill>
          <a:ln w="12700">
            <a:solidFill>
              <a:srgbClr val="C8D7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65008" y="33558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[Visual]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065008" y="3566160"/>
            <a:ext cx="2788920" cy="1874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A6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2 (problem) :: Premium clean slide visual for "The Problem". Notso style, mascot-forward, high whitespace, colors #004B49, #30D89E, #0B6E6C, no text overlays.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67665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05840" y="621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The Opportunity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05840" y="115214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6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becomes possible with the right assistant.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1691640"/>
            <a:ext cx="635508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1938528"/>
            <a:ext cx="5897880" cy="35295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Turn support into guided conversion moments.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Increase engagement with a memorable character experience.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 conversations while keeping premium brand tone.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516368" y="1691640"/>
            <a:ext cx="3712464" cy="2784348"/>
          </a:xfrm>
          <a:prstGeom prst="roundRect">
            <a:avLst>
              <a:gd name="adj" fmla="val 2627"/>
            </a:avLst>
          </a:prstGeom>
          <a:solidFill>
            <a:srgbClr val="F7FAFD"/>
          </a:solidFill>
          <a:ln w="12700">
            <a:solidFill>
              <a:srgbClr val="C8D7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99248" y="1801368"/>
            <a:ext cx="33467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[Visual]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699248" y="2011680"/>
            <a:ext cx="3392424" cy="23271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A6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3 (opportunity) :: Premium clean slide visual for "The Opportunity". Notso style, mascot-forward, high whitespace, colors #004B49, #30D89E, #0B6E6C, no text overlays.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67665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05840" y="621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The Solution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05840" y="115214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6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Character + AI + interaction model.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75888" y="178308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Character + AI + Interaction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960120" y="2331720"/>
            <a:ext cx="3456432" cy="32735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1288" y="2651760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4B4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Character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61288" y="3063240"/>
            <a:ext cx="3017520" cy="21214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E5A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recognizable mascot with clear brand personality.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27448" y="2331720"/>
            <a:ext cx="3456432" cy="32735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28616" y="2651760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4B4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AI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28616" y="3063240"/>
            <a:ext cx="3017520" cy="21214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E5A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Context-aware replies and smart routing.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494776" y="2331720"/>
            <a:ext cx="3456432" cy="32735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95944" y="2651760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4B4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Interaction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95944" y="3063240"/>
            <a:ext cx="3017520" cy="21214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E5A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 UI flows that move users to next actions.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67665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05840" y="621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What Notso AI Does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05840" y="115214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6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productized approach to animated AI assistants.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1691640"/>
            <a:ext cx="525780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0432" y="2011680"/>
            <a:ext cx="4709160" cy="3337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A44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designs and deploys animated AI assistants that combine personality with measurable business value for Acme Client.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46520" y="1691640"/>
            <a:ext cx="22219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92824" y="19202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Strategy &amp; Personality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92824" y="2276856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A62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 voice, role, and emotional behavior.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851392" y="1691640"/>
            <a:ext cx="22219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97696" y="19202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Design &amp; Animation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997696" y="2276856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A62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polished mascot visuals and motion.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446520" y="3703320"/>
            <a:ext cx="22219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92824" y="39319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Smart Conversations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92824" y="4288536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A62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 intent flows for conversion and support.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851392" y="3703320"/>
            <a:ext cx="22219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97696" y="39319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Measurable Impact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997696" y="4288536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A62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behavior, trends, and outcomes.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67665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05840" y="621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Meet Sven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05840" y="115214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6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Personality and tone profile.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1691640"/>
            <a:ext cx="521208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0432" y="1965960"/>
            <a:ext cx="4736592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452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Sven is a helpful, expressive guide designed to keep interactions clear, friendly, and conversion-focused.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3063240"/>
            <a:ext cx="4846320" cy="12618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3B5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Friendly and confident</a:t>
            </a:r>
            <a:endParaRPr lang="en-US" sz="1100" dirty="0"/>
          </a:p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3B5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Helpful under pressure</a:t>
            </a:r>
            <a:endParaRPr lang="en-US" sz="1100" dirty="0"/>
          </a:p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3B5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Consistent brand voice</a:t>
            </a:r>
            <a:endParaRPr lang="en-US" sz="1100" dirty="0"/>
          </a:p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3B5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 and clear guidance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70432" y="4498848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662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Friendly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377440" y="4544568"/>
            <a:ext cx="2560320" cy="109728"/>
          </a:xfrm>
          <a:prstGeom prst="roundRect">
            <a:avLst>
              <a:gd name="adj" fmla="val 25000"/>
            </a:avLst>
          </a:prstGeom>
          <a:solidFill>
            <a:srgbClr val="E7EEF8"/>
          </a:solidFill>
          <a:ln w="12700">
            <a:solidFill>
              <a:srgbClr val="E7EEF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77440" y="4544568"/>
            <a:ext cx="2253082" cy="109728"/>
          </a:xfrm>
          <a:prstGeom prst="roundRect">
            <a:avLst>
              <a:gd name="adj" fmla="val 25000"/>
            </a:avLst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70432" y="4773168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662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Professional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377440" y="4818888"/>
            <a:ext cx="2560320" cy="109728"/>
          </a:xfrm>
          <a:prstGeom prst="roundRect">
            <a:avLst>
              <a:gd name="adj" fmla="val 25000"/>
            </a:avLst>
          </a:prstGeom>
          <a:solidFill>
            <a:srgbClr val="E7EEF8"/>
          </a:solidFill>
          <a:ln w="12700">
            <a:solidFill>
              <a:srgbClr val="E7EE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77440" y="4818888"/>
            <a:ext cx="1945843" cy="109728"/>
          </a:xfrm>
          <a:prstGeom prst="roundRect">
            <a:avLst>
              <a:gd name="adj" fmla="val 25000"/>
            </a:avLst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5047488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662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Playful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377440" y="5093208"/>
            <a:ext cx="2560320" cy="109728"/>
          </a:xfrm>
          <a:prstGeom prst="roundRect">
            <a:avLst>
              <a:gd name="adj" fmla="val 25000"/>
            </a:avLst>
          </a:prstGeom>
          <a:solidFill>
            <a:srgbClr val="E7EEF8"/>
          </a:solidFill>
          <a:ln w="12700">
            <a:solidFill>
              <a:srgbClr val="E7EE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77440" y="5093208"/>
            <a:ext cx="1741018" cy="109728"/>
          </a:xfrm>
          <a:prstGeom prst="roundRect">
            <a:avLst>
              <a:gd name="adj" fmla="val 25000"/>
            </a:avLst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70432" y="5321808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662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377440" y="5367528"/>
            <a:ext cx="2560320" cy="109728"/>
          </a:xfrm>
          <a:prstGeom prst="roundRect">
            <a:avLst>
              <a:gd name="adj" fmla="val 25000"/>
            </a:avLst>
          </a:prstGeom>
          <a:solidFill>
            <a:srgbClr val="E7EEF8"/>
          </a:solidFill>
          <a:ln w="12700">
            <a:solidFill>
              <a:srgbClr val="E7EE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77440" y="5367528"/>
            <a:ext cx="2099462" cy="109728"/>
          </a:xfrm>
          <a:prstGeom prst="roundRect">
            <a:avLst>
              <a:gd name="adj" fmla="val 25000"/>
            </a:avLst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1600200"/>
            <a:ext cx="4023360" cy="4023360"/>
          </a:xfrm>
          <a:prstGeom prst="roundRect">
            <a:avLst>
              <a:gd name="adj" fmla="val 1818"/>
            </a:avLst>
          </a:prstGeom>
          <a:solidFill>
            <a:srgbClr val="F7FAFD"/>
          </a:solidFill>
          <a:ln w="12700">
            <a:solidFill>
              <a:srgbClr val="C8D7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170992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[Visual]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583680" y="1920240"/>
            <a:ext cx="370332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A6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6 (meet-buddy) :: Premium clean slide visual for "Meet Sven". Notso style, mascot-forward, high whitespace, colors #004B49, #30D89E, #0B6E6C, no text overlays.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67665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05840" y="621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Experience Concept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05840" y="115214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6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the assistant moves across product moments.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1691640"/>
            <a:ext cx="635508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1938528"/>
            <a:ext cx="5897880" cy="35295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Mascot welcomes users and frames intent quickly.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Context-aware prompts guide users toward the right path.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Recommendations adapt with each interaction.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 CTA closes each flow with measurable action.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516368" y="1691640"/>
            <a:ext cx="3712464" cy="2784348"/>
          </a:xfrm>
          <a:prstGeom prst="roundRect">
            <a:avLst>
              <a:gd name="adj" fmla="val 2627"/>
            </a:avLst>
          </a:prstGeom>
          <a:solidFill>
            <a:srgbClr val="F7FAFD"/>
          </a:solidFill>
          <a:ln w="12700">
            <a:solidFill>
              <a:srgbClr val="C8D7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99248" y="1801368"/>
            <a:ext cx="33467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[Visual]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699248" y="2011680"/>
            <a:ext cx="3392424" cy="23271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A6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7 (experience-concept) :: Premium clean slide visual for "Experience Concept". Notso style, mascot-forward, high whitespace, colors #004B49, #30D89E, #0B6E6C, no text overlays.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67665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05840" y="621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Chat Flow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05840" y="115214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6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logic behind each conversation.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1691640"/>
            <a:ext cx="635508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1938528"/>
            <a:ext cx="5897880" cy="35295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Greeting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Discovery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Suggestions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Personalization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516368" y="1691640"/>
            <a:ext cx="3712464" cy="2784348"/>
          </a:xfrm>
          <a:prstGeom prst="roundRect">
            <a:avLst>
              <a:gd name="adj" fmla="val 2627"/>
            </a:avLst>
          </a:prstGeom>
          <a:solidFill>
            <a:srgbClr val="F7FAFD"/>
          </a:solidFill>
          <a:ln w="12700">
            <a:solidFill>
              <a:srgbClr val="C8D7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99248" y="1801368"/>
            <a:ext cx="33467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[Visual]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699248" y="2011680"/>
            <a:ext cx="3392424" cy="23271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A6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8 (chat-flow) :: Premium clean slide visual for "Chat Flow". Notso style, mascot-forward, high whitespace, colors #004B49, #30D89E, #0B6E6C, no text overlays.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67665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05840" y="621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Example Interaction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05840" y="115214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6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it feels in a real user moment.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011680" y="1600200"/>
            <a:ext cx="813816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40280" y="1828800"/>
            <a:ext cx="6827520" cy="3840480"/>
          </a:xfrm>
          <a:prstGeom prst="roundRect">
            <a:avLst>
              <a:gd name="adj" fmla="val 1905"/>
            </a:avLst>
          </a:prstGeom>
          <a:solidFill>
            <a:srgbClr val="F7FAFD"/>
          </a:solidFill>
          <a:ln w="12700">
            <a:solidFill>
              <a:srgbClr val="C8D7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23160" y="1938528"/>
            <a:ext cx="646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[Visual]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423160" y="2148840"/>
            <a:ext cx="6507480" cy="3383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A6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9 (example-interaction) :: Premium clean slide visual for "Example Interaction". Notso style, mascot-forward, high whitespace, colors #004B49, #30D89E, #0B6E6C, no text overlays.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487168" y="2048256"/>
            <a:ext cx="3611880" cy="438912"/>
          </a:xfrm>
          <a:prstGeom prst="roundRect">
            <a:avLst>
              <a:gd name="adj" fmla="val 16667"/>
            </a:avLst>
          </a:prstGeom>
          <a:solidFill>
            <a:srgbClr val="EFF3F8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2176272"/>
            <a:ext cx="3246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856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User: I need help selecting the right chair.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989320" y="2651760"/>
            <a:ext cx="3611880" cy="438912"/>
          </a:xfrm>
          <a:prstGeom prst="roundRect">
            <a:avLst>
              <a:gd name="adj" fmla="val 16667"/>
            </a:avLst>
          </a:prstGeom>
          <a:solidFill>
            <a:srgbClr val="E9FCF4"/>
          </a:solidFill>
          <a:ln w="12700">
            <a:solidFill>
              <a:srgbClr val="BDEF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44768" y="2779776"/>
            <a:ext cx="3246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856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Sven: Great, do you want ergonomic or lounge style?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487168" y="3255264"/>
            <a:ext cx="3611880" cy="438912"/>
          </a:xfrm>
          <a:prstGeom prst="roundRect">
            <a:avLst>
              <a:gd name="adj" fmla="val 16667"/>
            </a:avLst>
          </a:prstGeom>
          <a:solidFill>
            <a:srgbClr val="EFF3F8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51760" y="3383280"/>
            <a:ext cx="3246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856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User: Ergonomic for long work sessions.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989320" y="3858768"/>
            <a:ext cx="3611880" cy="438912"/>
          </a:xfrm>
          <a:prstGeom prst="roundRect">
            <a:avLst>
              <a:gd name="adj" fmla="val 16667"/>
            </a:avLst>
          </a:prstGeom>
          <a:solidFill>
            <a:srgbClr val="E9FCF4"/>
          </a:solidFill>
          <a:ln w="12700">
            <a:solidFill>
              <a:srgbClr val="BDEF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44768" y="3986784"/>
            <a:ext cx="3246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856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Sven: I recommend Comfort LX006, want a quick comparison?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4B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68580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Business Impact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68680" y="1243584"/>
            <a:ext cx="8869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F0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commercial outcome of this assistant.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0881360" y="713232"/>
            <a:ext cx="329184" cy="329184"/>
          </a:xfrm>
          <a:prstGeom prst="ellipse">
            <a:avLst/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91088" y="832104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39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932688" y="2057400"/>
            <a:ext cx="2487168" cy="2971800"/>
          </a:xfrm>
          <a:prstGeom prst="roundRect">
            <a:avLst>
              <a:gd name="adj" fmla="val 2941"/>
            </a:avLst>
          </a:prstGeom>
          <a:solidFill>
            <a:srgbClr val="FFFFFF">
              <a:alpha val="93000"/>
            </a:srgbClr>
          </a:solidFill>
          <a:ln w="12700">
            <a:solidFill>
              <a:srgbClr val="78CCB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315468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Increase conversion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3721608" y="2057400"/>
            <a:ext cx="2487168" cy="2971800"/>
          </a:xfrm>
          <a:prstGeom prst="roundRect">
            <a:avLst>
              <a:gd name="adj" fmla="val 2941"/>
            </a:avLst>
          </a:prstGeom>
          <a:solidFill>
            <a:srgbClr val="FFFFFF">
              <a:alpha val="93000"/>
            </a:srgbClr>
          </a:solidFill>
          <a:ln w="12700">
            <a:solidFill>
              <a:srgbClr val="78CCB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04488" y="315468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Lower support load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6510528" y="2057400"/>
            <a:ext cx="2487168" cy="2971800"/>
          </a:xfrm>
          <a:prstGeom prst="roundRect">
            <a:avLst>
              <a:gd name="adj" fmla="val 2941"/>
            </a:avLst>
          </a:prstGeom>
          <a:solidFill>
            <a:srgbClr val="FFFFFF">
              <a:alpha val="93000"/>
            </a:srgbClr>
          </a:solidFill>
          <a:ln w="12700">
            <a:solidFill>
              <a:srgbClr val="78CCB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93408" y="315468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Boost engagement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299448" y="2057400"/>
            <a:ext cx="2487168" cy="2971800"/>
          </a:xfrm>
          <a:prstGeom prst="roundRect">
            <a:avLst>
              <a:gd name="adj" fmla="val 2941"/>
            </a:avLst>
          </a:prstGeom>
          <a:solidFill>
            <a:srgbClr val="FFFFFF">
              <a:alpha val="93000"/>
            </a:srgbClr>
          </a:solidFill>
          <a:ln w="12700">
            <a:solidFill>
              <a:srgbClr val="78CCB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82328" y="315468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Strengthen brand recall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67665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05840" y="621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Data &amp; Analytics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05840" y="115214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6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Insights that improve performance over time.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1691640"/>
            <a:ext cx="635508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1938528"/>
            <a:ext cx="5897880" cy="35295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interaction is tracked and analyzed so teams can improve messaging, product guidance, and conversion outcomes.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dashboard for interactions and conversion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questions and intent trends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Dwell time and drop-off insight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Exportable monthly reports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516368" y="1691640"/>
            <a:ext cx="3712464" cy="2784348"/>
          </a:xfrm>
          <a:prstGeom prst="roundRect">
            <a:avLst>
              <a:gd name="adj" fmla="val 2627"/>
            </a:avLst>
          </a:prstGeom>
          <a:solidFill>
            <a:srgbClr val="F7FAFD"/>
          </a:solidFill>
          <a:ln w="12700">
            <a:solidFill>
              <a:srgbClr val="C8D7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99248" y="1801368"/>
            <a:ext cx="33467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[Visual]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699248" y="2011680"/>
            <a:ext cx="3392424" cy="23271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A6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11 (data-analytics) :: Premium clean slide visual for "Data &amp; Analytics". Notso style, mascot-forward, high whitespace, colors #004B49, #30D89E, #0B6E6C, no text overlays.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4B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67665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05840" y="621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What You Get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868680" y="1691640"/>
            <a:ext cx="2487168" cy="4343400"/>
          </a:xfrm>
          <a:prstGeom prst="roundRect">
            <a:avLst>
              <a:gd name="adj" fmla="val 2941"/>
            </a:avLst>
          </a:prstGeom>
          <a:solidFill>
            <a:srgbClr val="FFFFFF">
              <a:alpha val="93000"/>
            </a:srgbClr>
          </a:solidFill>
          <a:ln w="12700">
            <a:solidFill>
              <a:srgbClr val="79CA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4984" y="196596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Deployment-ready mascot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41832" y="2331720"/>
            <a:ext cx="2340864" cy="34930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152400" indent="-152400">
              <a:buSzPct val="100000"/>
              <a:buChar char="•"/>
            </a:pPr>
            <a:r>
              <a:rPr lang="en-US" sz="9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Branded character</a:t>
            </a:r>
            <a:endParaRPr lang="en-US" sz="900" dirty="0"/>
          </a:p>
          <a:p>
            <a:pPr marL="152400" indent="-152400">
              <a:buSzPct val="100000"/>
              <a:buChar char="•"/>
            </a:pPr>
            <a:r>
              <a:rPr lang="en-US" sz="9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expressive animations</a:t>
            </a:r>
            <a:endParaRPr lang="en-US" sz="900" dirty="0"/>
          </a:p>
          <a:p>
            <a:pPr marL="152400" indent="-152400">
              <a:buSzPct val="100000"/>
              <a:buChar char="•"/>
            </a:pPr>
            <a:r>
              <a:rPr lang="en-US" sz="9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launch assets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85032" y="1691640"/>
            <a:ext cx="2487168" cy="4343400"/>
          </a:xfrm>
          <a:prstGeom prst="roundRect">
            <a:avLst>
              <a:gd name="adj" fmla="val 2941"/>
            </a:avLst>
          </a:prstGeom>
          <a:solidFill>
            <a:srgbClr val="FFFFFF">
              <a:alpha val="93000"/>
            </a:srgbClr>
          </a:solidFill>
          <a:ln w="12700">
            <a:solidFill>
              <a:srgbClr val="79CAB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31336" y="196596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Multichannel access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758184" y="2331720"/>
            <a:ext cx="2340864" cy="34930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152400" indent="-152400">
              <a:buSzPct val="100000"/>
              <a:buChar char="•"/>
            </a:pPr>
            <a:r>
              <a:rPr lang="en-US" sz="9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Website widget</a:t>
            </a:r>
            <a:endParaRPr lang="en-US" sz="900" dirty="0"/>
          </a:p>
          <a:p>
            <a:pPr marL="152400" indent="-152400">
              <a:buSzPct val="100000"/>
              <a:buChar char="•"/>
            </a:pPr>
            <a:r>
              <a:rPr lang="en-US" sz="9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mobile support</a:t>
            </a:r>
            <a:endParaRPr lang="en-US" sz="900" dirty="0"/>
          </a:p>
          <a:p>
            <a:pPr marL="152400" indent="-152400">
              <a:buSzPct val="100000"/>
              <a:buChar char="•"/>
            </a:pPr>
            <a:r>
              <a:rPr lang="en-US" sz="9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campaign deployment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501384" y="1691640"/>
            <a:ext cx="2487168" cy="4343400"/>
          </a:xfrm>
          <a:prstGeom prst="roundRect">
            <a:avLst>
              <a:gd name="adj" fmla="val 2941"/>
            </a:avLst>
          </a:prstGeom>
          <a:solidFill>
            <a:srgbClr val="FFFFFF">
              <a:alpha val="93000"/>
            </a:srgbClr>
          </a:solidFill>
          <a:ln w="12700">
            <a:solidFill>
              <a:srgbClr val="79CAB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47688" y="196596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Performance insights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74536" y="2331720"/>
            <a:ext cx="2340864" cy="34930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152400" indent="-152400">
              <a:buSzPct val="100000"/>
              <a:buChar char="•"/>
            </a:pPr>
            <a:r>
              <a:rPr lang="en-US" sz="9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dashboard</a:t>
            </a:r>
            <a:endParaRPr lang="en-US" sz="900" dirty="0"/>
          </a:p>
          <a:p>
            <a:pPr marL="152400" indent="-152400">
              <a:buSzPct val="100000"/>
              <a:buChar char="•"/>
            </a:pPr>
            <a:r>
              <a:rPr lang="en-US" sz="9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reporting</a:t>
            </a:r>
            <a:endParaRPr lang="en-US" sz="900" dirty="0"/>
          </a:p>
          <a:p>
            <a:pPr marL="152400" indent="-152400">
              <a:buSzPct val="100000"/>
              <a:buChar char="•"/>
            </a:pPr>
            <a:r>
              <a:rPr lang="en-US" sz="9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optimization notes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317736" y="1691640"/>
            <a:ext cx="2487168" cy="4343400"/>
          </a:xfrm>
          <a:prstGeom prst="roundRect">
            <a:avLst>
              <a:gd name="adj" fmla="val 2941"/>
            </a:avLst>
          </a:prstGeom>
          <a:solidFill>
            <a:srgbClr val="FFFFFF">
              <a:alpha val="93000"/>
            </a:srgbClr>
          </a:solidFill>
          <a:ln w="12700">
            <a:solidFill>
              <a:srgbClr val="79CAB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64040" y="196596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Brand activation media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390888" y="2331720"/>
            <a:ext cx="2340864" cy="34930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152400" indent="-152400">
              <a:buSzPct val="100000"/>
              <a:buChar char="•"/>
            </a:pPr>
            <a:r>
              <a:rPr lang="en-US" sz="9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Social visuals</a:t>
            </a:r>
            <a:endParaRPr lang="en-US" sz="900" dirty="0"/>
          </a:p>
          <a:p>
            <a:pPr marL="152400" indent="-152400">
              <a:buSzPct val="100000"/>
              <a:buChar char="•"/>
            </a:pPr>
            <a:r>
              <a:rPr lang="en-US" sz="9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 snippets</a:t>
            </a:r>
            <a:endParaRPr lang="en-US" sz="900" dirty="0"/>
          </a:p>
          <a:p>
            <a:pPr marL="152400" indent="-152400">
              <a:buSzPct val="100000"/>
              <a:buChar char="•"/>
            </a:pPr>
            <a:r>
              <a:rPr lang="en-US" sz="9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campaign-ready pack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67665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05840" y="621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Pricing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05840" y="115214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6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Flexible solutions based on ambition and scope.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23360" y="1609344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5C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FLEXIBLE SOLUTIONS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926080" y="1847088"/>
            <a:ext cx="6583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Pricing That Fits Your Vision</a:t>
            </a:r>
            <a:endParaRPr lang="en-US" sz="3100" dirty="0"/>
          </a:p>
        </p:txBody>
      </p:sp>
      <p:sp>
        <p:nvSpPr>
          <p:cNvPr id="8" name="Shape 6"/>
          <p:cNvSpPr/>
          <p:nvPr/>
        </p:nvSpPr>
        <p:spPr>
          <a:xfrm>
            <a:off x="822960" y="2331720"/>
            <a:ext cx="3438144" cy="3639312"/>
          </a:xfrm>
          <a:prstGeom prst="roundRect">
            <a:avLst>
              <a:gd name="adj" fmla="val 3191"/>
            </a:avLst>
          </a:prstGeom>
          <a:solidFill>
            <a:srgbClr val="EDEFF2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257860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Basic - Chat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0" y="2999232"/>
            <a:ext cx="2871216" cy="475488"/>
          </a:xfrm>
          <a:prstGeom prst="roundRect">
            <a:avLst>
              <a:gd name="adj" fmla="val 15385"/>
            </a:avLst>
          </a:prstGeom>
          <a:solidFill>
            <a:srgbClr val="F7F9FC"/>
          </a:solidFill>
          <a:ln w="12700">
            <a:solidFill>
              <a:srgbClr val="D6E0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127248"/>
            <a:ext cx="2871216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EUR 2.600,-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24128" y="3675888"/>
            <a:ext cx="3017520" cy="21214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552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3D mascot template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552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custom chat flows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552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emotion interactions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26864" y="2331720"/>
            <a:ext cx="3438144" cy="3639312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91456" y="257860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Premium - Chat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901184" y="2999232"/>
            <a:ext cx="2871216" cy="475488"/>
          </a:xfrm>
          <a:prstGeom prst="roundRect">
            <a:avLst>
              <a:gd name="adj" fmla="val 15385"/>
            </a:avLst>
          </a:prstGeom>
          <a:solidFill>
            <a:srgbClr val="F7F9FC"/>
          </a:solidFill>
          <a:ln w="12700">
            <a:solidFill>
              <a:srgbClr val="D6E0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01184" y="3127248"/>
            <a:ext cx="2871216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EUR 24.000,-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828032" y="3675888"/>
            <a:ext cx="3017520" cy="21214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552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custom mascot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552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40+ animations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552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advanced LLM integration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430768" y="2331720"/>
            <a:ext cx="3438144" cy="3639312"/>
          </a:xfrm>
          <a:prstGeom prst="roundRect">
            <a:avLst>
              <a:gd name="adj" fmla="val 3191"/>
            </a:avLst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95360" y="257860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Pro - Chat &amp; Voice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705088" y="2999232"/>
            <a:ext cx="2871216" cy="475488"/>
          </a:xfrm>
          <a:prstGeom prst="roundRect">
            <a:avLst>
              <a:gd name="adj" fmla="val 15385"/>
            </a:avLst>
          </a:prstGeom>
          <a:solidFill>
            <a:srgbClr val="004B49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05088" y="3127248"/>
            <a:ext cx="2871216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EUR 38.000,-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631936" y="3675888"/>
            <a:ext cx="3017520" cy="21214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9FA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voice layer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9FA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advanced analytics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9FA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pro media package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67665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05840" y="621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Timeline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05840" y="115214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6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clear 3-month execution path.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143000" y="2761488"/>
            <a:ext cx="9875520" cy="0"/>
          </a:xfrm>
          <a:prstGeom prst="line">
            <a:avLst/>
          </a:prstGeom>
          <a:noFill/>
          <a:ln w="12700">
            <a:solidFill>
              <a:srgbClr val="BFD0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33272" y="2615184"/>
            <a:ext cx="219456" cy="219456"/>
          </a:xfrm>
          <a:prstGeom prst="ellipse">
            <a:avLst/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41832" y="3017520"/>
            <a:ext cx="2788920" cy="2542032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D7E1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332841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Month 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3712464"/>
            <a:ext cx="2304288" cy="1554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E5A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Discovery, strategy, concept sign-off.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53128" y="2615184"/>
            <a:ext cx="219456" cy="219456"/>
          </a:xfrm>
          <a:prstGeom prst="ellipse">
            <a:avLst/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61688" y="3017520"/>
            <a:ext cx="2788920" cy="2542032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D7E1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08576" y="332841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Month 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08576" y="3712464"/>
            <a:ext cx="2304288" cy="1554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E5A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Design, animation, flow implementation.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872984" y="2615184"/>
            <a:ext cx="219456" cy="219456"/>
          </a:xfrm>
          <a:prstGeom prst="ellipse">
            <a:avLst/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81544" y="3017520"/>
            <a:ext cx="2788920" cy="2542032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D7E1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28432" y="332841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Month 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028432" y="3712464"/>
            <a:ext cx="2304288" cy="1554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E5A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Integration, launch, optimization.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4B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30352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Let's build Sven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148840"/>
            <a:ext cx="521208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9F4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Let’s build Sven and launch a premium conversational experience for Acme Client.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3840480"/>
            <a:ext cx="4206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 Kowalski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max@notso.ai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+31 6 40450599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126480" y="1024128"/>
            <a:ext cx="5166360" cy="3874770"/>
          </a:xfrm>
          <a:prstGeom prst="roundRect">
            <a:avLst>
              <a:gd name="adj" fmla="val 1888"/>
            </a:avLst>
          </a:prstGeom>
          <a:solidFill>
            <a:srgbClr val="F7FAFD"/>
          </a:solidFill>
          <a:ln w="12700">
            <a:solidFill>
              <a:srgbClr val="C8D7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9360" y="1133856"/>
            <a:ext cx="4800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[Visual]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309360" y="1344168"/>
            <a:ext cx="4846320" cy="341757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A6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15 (closing) :: Premium clean slide visual for "Let’s Build This Together". Notso style, mascot-forward, high whitespace, colors #004B49, #30D89E, #0B6E6C, no text overlays.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0972800" y="731520"/>
            <a:ext cx="310896" cy="310896"/>
          </a:xfrm>
          <a:prstGeom prst="ellipse">
            <a:avLst/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082528" y="841248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D39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Notso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Mascot for Acme Client - Acme Client</dc:title>
  <dc:subject>AI Mascot for Acme Client for Acme Client</dc:subject>
  <dc:creator>Max Kowalski</dc:creator>
  <cp:lastModifiedBy>Max Kowalski</cp:lastModifiedBy>
  <cp:revision>1</cp:revision>
  <dcterms:created xsi:type="dcterms:W3CDTF">2026-03-23T13:58:13Z</dcterms:created>
  <dcterms:modified xsi:type="dcterms:W3CDTF">2026-03-23T13:58:13Z</dcterms:modified>
</cp:coreProperties>
</file>