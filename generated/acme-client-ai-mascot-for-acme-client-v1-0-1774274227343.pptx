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4754880" cy="56692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6E1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6926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5C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PRESENTS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32588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1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AI Mascot for Acme Client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914400" y="2542032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E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playful, animated chatbot experience that feels premium and converts.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5266944"/>
            <a:ext cx="2651760" cy="438912"/>
          </a:xfrm>
          <a:prstGeom prst="roundRect">
            <a:avLst>
              <a:gd name="adj" fmla="val 16667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541324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3C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59552" y="713232"/>
            <a:ext cx="5897880" cy="3317558"/>
          </a:xfrm>
          <a:prstGeom prst="roundRect">
            <a:avLst>
              <a:gd name="adj" fmla="val 2205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42432" y="822960"/>
            <a:ext cx="5532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742432" y="1033272"/>
            <a:ext cx="5577840" cy="286035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 (cover) :: Premium clean slide visual for "AI Mascot Proposal".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Problem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blocking growth today.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3438144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993392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 Client loses conversion momentum when visitors do not get instant answers.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26864" y="1691640"/>
            <a:ext cx="3438144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28032" y="1993392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teams repeatedly handle similar questions manually.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339328" y="1691640"/>
            <a:ext cx="3438144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40496" y="1993392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Automation on acme-client.com feels generic and not brand-distinctive.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246120"/>
            <a:ext cx="6720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352044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Key Message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3840480"/>
            <a:ext cx="6217920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746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 Client loses conversion momentum when visitors do not get instant answers.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882128" y="3246120"/>
            <a:ext cx="3108960" cy="2331720"/>
          </a:xfrm>
          <a:prstGeom prst="roundRect">
            <a:avLst>
              <a:gd name="adj" fmla="val 3137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65008" y="33558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65008" y="3566160"/>
            <a:ext cx="2788920" cy="1874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 (problem) :: Premium clean slide visual for "The Problem".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Opportunity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becomes possible with the right assistant.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63550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938528"/>
            <a:ext cx="5897880" cy="3529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support into guided conversion moments.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Increase engagement with a memorable character experience.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 conversations while keeping premium brand tone.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16368" y="1691640"/>
            <a:ext cx="3712464" cy="2784348"/>
          </a:xfrm>
          <a:prstGeom prst="roundRect">
            <a:avLst>
              <a:gd name="adj" fmla="val 2627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99248" y="1801368"/>
            <a:ext cx="33467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99248" y="2011680"/>
            <a:ext cx="3392424" cy="23271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3 (opportunity) :: Premium clean slide visual for "The Opportunity".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Solution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Character + AI + interaction model.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75888" y="17830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Character + AI + Interaction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60120" y="2331720"/>
            <a:ext cx="3456432" cy="32735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265176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4B4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Character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61288" y="3063240"/>
            <a:ext cx="3017520" cy="2121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A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recognizable mascot with clear brand personality.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27448" y="2331720"/>
            <a:ext cx="3456432" cy="32735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28616" y="265176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4B4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28616" y="3063240"/>
            <a:ext cx="3017520" cy="2121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A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Context-aware replies and smart routing.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494776" y="2331720"/>
            <a:ext cx="3456432" cy="32735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95944" y="265176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4B4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Interaction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95944" y="3063240"/>
            <a:ext cx="3017520" cy="2121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A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UI flows that move users to next actions.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What Notso AI Does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productized approach to animated AI assistants.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2011680"/>
            <a:ext cx="4709160" cy="3337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A44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designs and deploys animated AI assistants that combine personality with measurable business value for Acme Client.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46520" y="1691640"/>
            <a:ext cx="22219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92824" y="19202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Strategy &amp; Personality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92824" y="2276856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voice, role, and emotional behavior.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851392" y="1691640"/>
            <a:ext cx="22219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97696" y="19202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Design &amp; Animation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97696" y="2276856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polished mascot visuals and motion.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46520" y="3703320"/>
            <a:ext cx="22219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92824" y="39319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Smart Conversations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92824" y="4288536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 intent flows for conversion and support.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851392" y="3703320"/>
            <a:ext cx="22219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97696" y="39319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Measurable Impact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97696" y="4288536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behavior, trends, and outcomes.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Meet Sven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Personality and tone profile.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1965960"/>
            <a:ext cx="4736592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452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Sven is a helpful, expressive guide designed to keep interactions clear, friendly, and conversion-focused.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3063240"/>
            <a:ext cx="4846320" cy="12618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3B5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Friendly and confident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3B5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Helpful under pressure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3B5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brand voice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3B5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and clear guidance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70432" y="449884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6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Friendly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377440" y="4544568"/>
            <a:ext cx="2560320" cy="109728"/>
          </a:xfrm>
          <a:prstGeom prst="roundRect">
            <a:avLst>
              <a:gd name="adj" fmla="val 25000"/>
            </a:avLst>
          </a:prstGeom>
          <a:solidFill>
            <a:srgbClr val="E7EEF8"/>
          </a:solidFill>
          <a:ln w="12700">
            <a:solidFill>
              <a:srgbClr val="E7EE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77440" y="4544568"/>
            <a:ext cx="2253082" cy="109728"/>
          </a:xfrm>
          <a:prstGeom prst="roundRect">
            <a:avLst>
              <a:gd name="adj" fmla="val 25000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477316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6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377440" y="4818888"/>
            <a:ext cx="2560320" cy="109728"/>
          </a:xfrm>
          <a:prstGeom prst="roundRect">
            <a:avLst>
              <a:gd name="adj" fmla="val 25000"/>
            </a:avLst>
          </a:prstGeom>
          <a:solidFill>
            <a:srgbClr val="E7EEF8"/>
          </a:solidFill>
          <a:ln w="12700">
            <a:solidFill>
              <a:srgbClr val="E7EE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4818888"/>
            <a:ext cx="1945843" cy="109728"/>
          </a:xfrm>
          <a:prstGeom prst="roundRect">
            <a:avLst>
              <a:gd name="adj" fmla="val 25000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504748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6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Playful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377440" y="5093208"/>
            <a:ext cx="2560320" cy="109728"/>
          </a:xfrm>
          <a:prstGeom prst="roundRect">
            <a:avLst>
              <a:gd name="adj" fmla="val 25000"/>
            </a:avLst>
          </a:prstGeom>
          <a:solidFill>
            <a:srgbClr val="E7EEF8"/>
          </a:solidFill>
          <a:ln w="12700">
            <a:solidFill>
              <a:srgbClr val="E7EE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77440" y="5093208"/>
            <a:ext cx="1741018" cy="109728"/>
          </a:xfrm>
          <a:prstGeom prst="roundRect">
            <a:avLst>
              <a:gd name="adj" fmla="val 25000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0432" y="532180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6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377440" y="5367528"/>
            <a:ext cx="2560320" cy="109728"/>
          </a:xfrm>
          <a:prstGeom prst="roundRect">
            <a:avLst>
              <a:gd name="adj" fmla="val 25000"/>
            </a:avLst>
          </a:prstGeom>
          <a:solidFill>
            <a:srgbClr val="E7EEF8"/>
          </a:solidFill>
          <a:ln w="12700">
            <a:solidFill>
              <a:srgbClr val="E7EE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5367528"/>
            <a:ext cx="2099462" cy="109728"/>
          </a:xfrm>
          <a:prstGeom prst="roundRect">
            <a:avLst>
              <a:gd name="adj" fmla="val 25000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1600200"/>
            <a:ext cx="4023360" cy="4023360"/>
          </a:xfrm>
          <a:prstGeom prst="roundRect">
            <a:avLst>
              <a:gd name="adj" fmla="val 1818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170992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83680" y="1920240"/>
            <a:ext cx="370332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6 (meet-buddy) :: Premium clean slide visual for "Meet Sven".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Experience Concept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the assistant moves across product moments.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63550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938528"/>
            <a:ext cx="5897880" cy="3529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Mascot welcomes users and frames intent quickly.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Context-aware prompts guide users toward the right path.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Recommendations adapt with each interaction.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CTA closes each flow with measurable action.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16368" y="1691640"/>
            <a:ext cx="3712464" cy="2784348"/>
          </a:xfrm>
          <a:prstGeom prst="roundRect">
            <a:avLst>
              <a:gd name="adj" fmla="val 2627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99248" y="1801368"/>
            <a:ext cx="33467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99248" y="2011680"/>
            <a:ext cx="3392424" cy="23271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7 (experience-concept) :: Premium clean slide visual for "Experience Concept".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Chat Flow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logic behind each conversation.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63550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938528"/>
            <a:ext cx="5897880" cy="3529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Greeting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Suggestions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Personalization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16368" y="1691640"/>
            <a:ext cx="3712464" cy="2784348"/>
          </a:xfrm>
          <a:prstGeom prst="roundRect">
            <a:avLst>
              <a:gd name="adj" fmla="val 2627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99248" y="1801368"/>
            <a:ext cx="33467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99248" y="2011680"/>
            <a:ext cx="3392424" cy="23271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8 (chat-flow) :: Premium clean slide visual for "Chat Flow".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Example Interaction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feels in a real user moment.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0" y="1600200"/>
            <a:ext cx="81381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40280" y="1828800"/>
            <a:ext cx="6827520" cy="3840480"/>
          </a:xfrm>
          <a:prstGeom prst="roundRect">
            <a:avLst>
              <a:gd name="adj" fmla="val 1905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1938528"/>
            <a:ext cx="646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23160" y="2148840"/>
            <a:ext cx="6507480" cy="3383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9 (example-interaction) :: Premium clean slide visual for "Example Interaction".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87168" y="2048256"/>
            <a:ext cx="3611880" cy="438912"/>
          </a:xfrm>
          <a:prstGeom prst="roundRect">
            <a:avLst>
              <a:gd name="adj" fmla="val 16667"/>
            </a:avLst>
          </a:prstGeom>
          <a:solidFill>
            <a:srgbClr val="EFF3F8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176272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856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User: I need help selecting the right chair.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989320" y="2651760"/>
            <a:ext cx="3611880" cy="438912"/>
          </a:xfrm>
          <a:prstGeom prst="roundRect">
            <a:avLst>
              <a:gd name="adj" fmla="val 16667"/>
            </a:avLst>
          </a:prstGeom>
          <a:solidFill>
            <a:srgbClr val="E9FCF4"/>
          </a:solidFill>
          <a:ln w="12700">
            <a:solidFill>
              <a:srgbClr val="BDEF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44768" y="2779776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856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Sven: Great, do you want ergonomic or lounge style?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487168" y="3255264"/>
            <a:ext cx="3611880" cy="438912"/>
          </a:xfrm>
          <a:prstGeom prst="roundRect">
            <a:avLst>
              <a:gd name="adj" fmla="val 16667"/>
            </a:avLst>
          </a:prstGeom>
          <a:solidFill>
            <a:srgbClr val="EFF3F8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3383280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856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User: Ergonomic for long work sessions.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989320" y="3858768"/>
            <a:ext cx="3611880" cy="438912"/>
          </a:xfrm>
          <a:prstGeom prst="roundRect">
            <a:avLst>
              <a:gd name="adj" fmla="val 16667"/>
            </a:avLst>
          </a:prstGeom>
          <a:solidFill>
            <a:srgbClr val="E9FCF4"/>
          </a:solidFill>
          <a:ln w="12700">
            <a:solidFill>
              <a:srgbClr val="BDEF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3986784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856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Sven: I recommend Comfort LX006, want a quick comparison?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4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68580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Business Impact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68680" y="1243584"/>
            <a:ext cx="8869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F0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commercial outcome of this assistant.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881360" y="713232"/>
            <a:ext cx="329184" cy="329184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83210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39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932688" y="2057400"/>
            <a:ext cx="2487168" cy="29718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8CC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31546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Increase conversion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3721608" y="2057400"/>
            <a:ext cx="2487168" cy="29718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8CCB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04488" y="31546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Lower support load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510528" y="2057400"/>
            <a:ext cx="2487168" cy="29718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8CCB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93408" y="31546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Boost engagement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299448" y="2057400"/>
            <a:ext cx="2487168" cy="29718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8CCB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82328" y="31546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Strengthen brand recall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Data &amp; Analytics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 that improve performance over time.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63550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938528"/>
            <a:ext cx="5897880" cy="3529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interaction is tracked and analyzed so teams can improve messaging, product guidance, and conversion outcomes.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dashboard for interactions and conversion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questions and intent trends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Dwell time and drop-off insight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Exportable monthly reports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16368" y="1691640"/>
            <a:ext cx="3712464" cy="2784348"/>
          </a:xfrm>
          <a:prstGeom prst="roundRect">
            <a:avLst>
              <a:gd name="adj" fmla="val 2627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99248" y="1801368"/>
            <a:ext cx="33467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99248" y="2011680"/>
            <a:ext cx="3392424" cy="23271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11 (data-analytics) :: Premium clean slide visual for "Data &amp; Analytics".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4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What You Get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868680" y="1691640"/>
            <a:ext cx="2487168" cy="43434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9CA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4984" y="19659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Deployment-ready mascot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1832" y="2331720"/>
            <a:ext cx="2340864" cy="3493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Branded character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expressive animations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assets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85032" y="1691640"/>
            <a:ext cx="2487168" cy="43434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9CA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31336" y="19659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Multichannel access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58184" y="2331720"/>
            <a:ext cx="2340864" cy="3493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Website widget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support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 deployment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01384" y="1691640"/>
            <a:ext cx="2487168" cy="43434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9CA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47688" y="19659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Performance insights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74536" y="2331720"/>
            <a:ext cx="2340864" cy="3493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dashboard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reporting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optimization notes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317736" y="1691640"/>
            <a:ext cx="2487168" cy="43434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9CA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64040" y="19659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Brand activation media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390888" y="2331720"/>
            <a:ext cx="2340864" cy="3493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visuals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snippets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campaign-ready pack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Pricing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Flexible solutions based on ambition and scope.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23360" y="1609344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5C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FLEXIBLE SOLUTIONS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26080" y="1847088"/>
            <a:ext cx="6583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Pricing That Fits Your Vision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822960" y="2331720"/>
            <a:ext cx="3438144" cy="3639312"/>
          </a:xfrm>
          <a:prstGeom prst="roundRect">
            <a:avLst>
              <a:gd name="adj" fmla="val 3191"/>
            </a:avLst>
          </a:prstGeom>
          <a:solidFill>
            <a:srgbClr val="EDEFF2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57860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Basic - Chat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0" y="2999232"/>
            <a:ext cx="2871216" cy="475488"/>
          </a:xfrm>
          <a:prstGeom prst="roundRect">
            <a:avLst>
              <a:gd name="adj" fmla="val 15385"/>
            </a:avLst>
          </a:prstGeom>
          <a:solidFill>
            <a:srgbClr val="F7F9FC"/>
          </a:solidFill>
          <a:ln w="12700">
            <a:solidFill>
              <a:srgbClr val="D6E0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127248"/>
            <a:ext cx="287121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2.600,-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24128" y="3675888"/>
            <a:ext cx="3017520" cy="2121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552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3D mascot template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552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custom chat flows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552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emotion interactions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26864" y="2331720"/>
            <a:ext cx="3438144" cy="3639312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1456" y="257860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Premium - Chat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901184" y="2999232"/>
            <a:ext cx="2871216" cy="475488"/>
          </a:xfrm>
          <a:prstGeom prst="roundRect">
            <a:avLst>
              <a:gd name="adj" fmla="val 15385"/>
            </a:avLst>
          </a:prstGeom>
          <a:solidFill>
            <a:srgbClr val="F7F9FC"/>
          </a:solidFill>
          <a:ln w="12700">
            <a:solidFill>
              <a:srgbClr val="D6E0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01184" y="3127248"/>
            <a:ext cx="287121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24.000,-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828032" y="3675888"/>
            <a:ext cx="3017520" cy="2121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552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custom mascot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552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40+ animations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552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advanced LLM integration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430768" y="2331720"/>
            <a:ext cx="3438144" cy="3639312"/>
          </a:xfrm>
          <a:prstGeom prst="roundRect">
            <a:avLst>
              <a:gd name="adj" fmla="val 3191"/>
            </a:avLst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0" y="257860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 - Chat &amp; Voice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705088" y="2999232"/>
            <a:ext cx="2871216" cy="475488"/>
          </a:xfrm>
          <a:prstGeom prst="roundRect">
            <a:avLst>
              <a:gd name="adj" fmla="val 15385"/>
            </a:avLst>
          </a:prstGeom>
          <a:solidFill>
            <a:srgbClr val="004B49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05088" y="3127248"/>
            <a:ext cx="287121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38.000,-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631936" y="3675888"/>
            <a:ext cx="3017520" cy="2121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9FA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voice layer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9FA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advanced analytics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9FA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pro media package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Timeline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clear 3-month execution path.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43000" y="2761488"/>
            <a:ext cx="9875520" cy="0"/>
          </a:xfrm>
          <a:prstGeom prst="line">
            <a:avLst/>
          </a:prstGeom>
          <a:noFill/>
          <a:ln w="12700">
            <a:solidFill>
              <a:srgbClr val="BFD0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3272" y="2615184"/>
            <a:ext cx="219456" cy="219456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" y="3017520"/>
            <a:ext cx="2788920" cy="2542032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7E1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3284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Month 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3712464"/>
            <a:ext cx="2304288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E5A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Discovery, strategy, concept sign-off.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53128" y="2615184"/>
            <a:ext cx="219456" cy="219456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61688" y="3017520"/>
            <a:ext cx="2788920" cy="2542032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7E1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08576" y="33284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Month 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08576" y="3712464"/>
            <a:ext cx="2304288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E5A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Design, animation, flow implementation.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72984" y="2615184"/>
            <a:ext cx="219456" cy="219456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81544" y="3017520"/>
            <a:ext cx="2788920" cy="2542032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7E1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28432" y="33284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Month 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28432" y="3712464"/>
            <a:ext cx="2304288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E5A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Integration, launch, optimization.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4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Let's build Sven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14884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9F4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Let’s build Sven and launch a premium conversational experience for Acme Client.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126480" y="1024128"/>
            <a:ext cx="5166360" cy="3874770"/>
          </a:xfrm>
          <a:prstGeom prst="roundRect">
            <a:avLst>
              <a:gd name="adj" fmla="val 1888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0" y="1133856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309360" y="1344168"/>
            <a:ext cx="4846320" cy="341757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15 (closing) :: Premium clean slide visual for "Let’s Build This Together". Notso style, mascot-forward, high whitespace, colors #004B49, #30D89E, #0B6E6C, no text overlays.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0972800" y="731520"/>
            <a:ext cx="310896" cy="310896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082528" y="84124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39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Mascot for Acme Client - Acme Client</dc:title>
  <dc:subject>AI Mascot for Acme Client for Acme Client</dc:subject>
  <dc:creator>Max Kowalski</dc:creator>
  <cp:lastModifiedBy>Max Kowalski</cp:lastModifiedBy>
  <cp:revision>1</cp:revision>
  <dcterms:created xsi:type="dcterms:W3CDTF">2026-03-23T13:57:07Z</dcterms:created>
  <dcterms:modified xsi:type="dcterms:W3CDTF">2026-03-23T13:57:07Z</dcterms:modified>
</cp:coreProperties>
</file>