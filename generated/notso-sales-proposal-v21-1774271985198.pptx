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43800" y="-1097280"/>
            <a:ext cx="5669280" cy="5669280"/>
          </a:xfrm>
          <a:prstGeom prst="ellipse">
            <a:avLst/>
          </a:prstGeom>
          <a:solidFill>
            <a:srgbClr val="7D2AE8">
              <a:alpha val="14000"/>
            </a:srgbClr>
          </a:solidFill>
          <a:ln w="12700">
            <a:solidFill>
              <a:srgbClr val="7D2AE8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126480" y="2377440"/>
            <a:ext cx="4754880" cy="4754880"/>
          </a:xfrm>
          <a:prstGeom prst="ellipse">
            <a:avLst/>
          </a:prstGeom>
          <a:solidFill>
            <a:srgbClr val="00C4CC">
              <a:alpha val="12000"/>
            </a:srgbClr>
          </a:solidFill>
          <a:ln w="12700">
            <a:solidFill>
              <a:srgbClr val="00C4CC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046720" y="0"/>
            <a:ext cx="4142232" cy="6858000"/>
          </a:xfrm>
          <a:prstGeom prst="roundRect">
            <a:avLst/>
          </a:prstGeom>
          <a:solidFill>
            <a:srgbClr val="0B1F4D"/>
          </a:solidFill>
          <a:ln w="12700">
            <a:solidFill>
              <a:srgbClr val="0B1F4D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005840"/>
            <a:ext cx="6766560" cy="10515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14213D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Animated Chatbot Proposal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713232" y="2240280"/>
            <a:ext cx="6400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1477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conversational assistant that feels premium, helpful, and on-brand.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31477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Prepared for Notso Sales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713232" y="3840480"/>
            <a:ext cx="6720840" cy="1097280"/>
          </a:xfrm>
          <a:prstGeom prst="roundRect">
            <a:avLst>
              <a:gd name="adj" fmla="val 6667"/>
            </a:avLst>
          </a:prstGeom>
          <a:solidFill>
            <a:srgbClr val="FFFFFF">
              <a:alpha val="88000"/>
            </a:srgbClr>
          </a:solidFill>
          <a:ln w="12700">
            <a:solidFill>
              <a:srgbClr val="D1E1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0120" y="4069080"/>
            <a:ext cx="621792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D37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Objective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D37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Design and launch an animated chatbot experience that improves response speed and lead quality.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595360" y="1097280"/>
            <a:ext cx="28346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Notso AI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8595360" y="1828800"/>
            <a:ext cx="2834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7E4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Animated Chatbot Proposal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595360" y="2743200"/>
            <a:ext cx="2834640" cy="475488"/>
          </a:xfrm>
          <a:prstGeom prst="roundRect">
            <a:avLst>
              <a:gd name="adj" fmla="val 15385"/>
            </a:avLst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595360" y="2889504"/>
            <a:ext cx="2834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Pitch Deck Proposal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8595360" y="3310128"/>
            <a:ext cx="283464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DCE9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https://www.notso.ai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8595360" y="3703320"/>
            <a:ext cx="2834640" cy="1463040"/>
          </a:xfrm>
          <a:prstGeom prst="roundRect">
            <a:avLst>
              <a:gd name="adj" fmla="val 5000"/>
            </a:avLst>
          </a:prstGeom>
          <a:solidFill>
            <a:srgbClr val="FFFFFF">
              <a:alpha val="92000"/>
            </a:srgbClr>
          </a:solidFill>
          <a:ln w="12700">
            <a:solidFill>
              <a:srgbClr val="D2DAE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796528" y="3977640"/>
            <a:ext cx="2468880" cy="10515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1A33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Deck version: v21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33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Max Kowalski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33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max@notso.ai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8595360" y="5166360"/>
            <a:ext cx="1983232" cy="1115568"/>
          </a:xfrm>
          <a:prstGeom prst="roundRect">
            <a:avLst>
              <a:gd name="adj" fmla="val 6557"/>
            </a:avLst>
          </a:prstGeom>
          <a:solidFill>
            <a:srgbClr val="F8FBFF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796528" y="5312664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C4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[Image]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9509760" y="5312664"/>
            <a:ext cx="867664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3155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Missing image placeholder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8796528" y="5568696"/>
            <a:ext cx="1599184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4567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Hero visual: premium animated chatbot assistant for Notso Sales website experience.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0B1F4D"/>
          </a:solidFill>
          <a:ln w="12700">
            <a:solidFill>
              <a:srgbClr val="0B1F4D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" y="6547104"/>
            <a:ext cx="5029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Notso AI  |  v21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10789920" y="6547104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 / 11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F6F8FB"/>
          </a:solidFill>
          <a:ln w="12700">
            <a:solidFill>
              <a:srgbClr val="F6F8F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58368"/>
            <a:ext cx="10972800" cy="0"/>
          </a:xfrm>
          <a:prstGeom prst="line">
            <a:avLst/>
          </a:prstGeom>
          <a:noFill/>
          <a:ln w="12700">
            <a:solidFill>
              <a:srgbClr val="D7E3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86868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Client Situation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94360" y="1261872"/>
            <a:ext cx="7772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A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is blocking growth today.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8321040" y="896112"/>
            <a:ext cx="3383280" cy="502920"/>
          </a:xfrm>
          <a:prstGeom prst="roundRect">
            <a:avLst>
              <a:gd name="adj" fmla="val 14545"/>
            </a:avLst>
          </a:prstGeom>
          <a:solidFill>
            <a:srgbClr val="E9F8FA"/>
          </a:solidFill>
          <a:ln w="12700">
            <a:solidFill>
              <a:srgbClr val="C2F0F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67344" y="1042416"/>
            <a:ext cx="306324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0F3A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Purpose: Create urgency with concrete pain points.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822960" y="1783080"/>
            <a:ext cx="3383280" cy="1325880"/>
          </a:xfrm>
          <a:prstGeom prst="roundRect">
            <a:avLst>
              <a:gd name="adj" fmla="val 5517"/>
            </a:avLst>
          </a:prstGeom>
          <a:solidFill>
            <a:srgbClr val="F8FBFF"/>
          </a:solidFill>
          <a:ln w="12700">
            <a:solidFill>
              <a:srgbClr val="D5E1F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24128" y="2011680"/>
            <a:ext cx="310896" cy="310896"/>
          </a:xfrm>
          <a:prstGeom prst="ellipse">
            <a:avLst/>
          </a:prstGeom>
          <a:solidFill>
            <a:srgbClr val="0B1F4D"/>
          </a:solidFill>
          <a:ln w="12700">
            <a:solidFill>
              <a:srgbClr val="0B1F4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33856" y="2112264"/>
            <a:ext cx="91440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1426464" y="1975104"/>
            <a:ext cx="2670048" cy="9418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35507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Notso Sales support and pre-sales requests are handled manually and slowly.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434840" y="1783080"/>
            <a:ext cx="3383280" cy="1325880"/>
          </a:xfrm>
          <a:prstGeom prst="roundRect">
            <a:avLst>
              <a:gd name="adj" fmla="val 5517"/>
            </a:avLst>
          </a:prstGeom>
          <a:solidFill>
            <a:srgbClr val="F8FBFF"/>
          </a:solidFill>
          <a:ln w="12700">
            <a:solidFill>
              <a:srgbClr val="D5E1F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636008" y="2011680"/>
            <a:ext cx="310896" cy="310896"/>
          </a:xfrm>
          <a:prstGeom prst="ellipse">
            <a:avLst/>
          </a:prstGeom>
          <a:solidFill>
            <a:srgbClr val="0B1F4D"/>
          </a:solidFill>
          <a:ln w="12700">
            <a:solidFill>
              <a:srgbClr val="0B1F4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45736" y="2112264"/>
            <a:ext cx="91440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5038344" y="1975104"/>
            <a:ext cx="2670048" cy="9418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35507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Users on https://www.notso.ai do not get immediate guided answers for high-intent questions.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046720" y="1783080"/>
            <a:ext cx="3383280" cy="1325880"/>
          </a:xfrm>
          <a:prstGeom prst="roundRect">
            <a:avLst>
              <a:gd name="adj" fmla="val 5517"/>
            </a:avLst>
          </a:prstGeom>
          <a:solidFill>
            <a:srgbClr val="F8FBFF"/>
          </a:solidFill>
          <a:ln w="12700">
            <a:solidFill>
              <a:srgbClr val="D5E1F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247888" y="2011680"/>
            <a:ext cx="310896" cy="310896"/>
          </a:xfrm>
          <a:prstGeom prst="ellipse">
            <a:avLst/>
          </a:prstGeom>
          <a:solidFill>
            <a:srgbClr val="0B1F4D"/>
          </a:solidFill>
          <a:ln w="12700">
            <a:solidFill>
              <a:srgbClr val="0B1F4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357616" y="2112264"/>
            <a:ext cx="91440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650224" y="1975104"/>
            <a:ext cx="2670048" cy="9418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35507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Current chatbot behavior feels static and under-represents the brand quality.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822960" y="3291840"/>
            <a:ext cx="6812280" cy="20574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2700">
            <a:solidFill>
              <a:srgbClr val="D7E2F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60704" y="3547872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213D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Why This Matters Now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960120" y="3794760"/>
            <a:ext cx="6355080" cy="1417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127000" indent="-127000">
              <a:buSzPct val="100000"/>
              <a:buChar char="•"/>
            </a:pPr>
            <a:r>
              <a:rPr lang="en-US" sz="1200" dirty="0">
                <a:solidFill>
                  <a:srgbClr val="3E58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Notso Sales support and pre-sales requests are handled manually and slowly.</a:t>
            </a:r>
            <a:endParaRPr lang="en-US" sz="1200" dirty="0"/>
          </a:p>
          <a:p>
            <a:pPr marL="127000" indent="-127000">
              <a:buSzPct val="100000"/>
              <a:buChar char="•"/>
            </a:pPr>
            <a:r>
              <a:rPr lang="en-US" sz="1200" dirty="0">
                <a:solidFill>
                  <a:srgbClr val="3E58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Users on https://www.notso.ai do not get immediate guided answers for high-intent questions.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7863840" y="3429000"/>
            <a:ext cx="2560320" cy="1920240"/>
          </a:xfrm>
          <a:prstGeom prst="roundRect">
            <a:avLst>
              <a:gd name="adj" fmla="val 3810"/>
            </a:avLst>
          </a:prstGeom>
          <a:solidFill>
            <a:srgbClr val="F8FBFF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065008" y="3575304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C4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[Image]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8778240" y="3575304"/>
            <a:ext cx="1444752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3155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Missing image placeholder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8065008" y="3831336"/>
            <a:ext cx="2176272" cy="144475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4567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Three-direction moodboard for playful, premium concierge, and expert chatbot styles.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0B1F4D"/>
          </a:solidFill>
          <a:ln w="12700">
            <a:solidFill>
              <a:srgbClr val="0B1F4D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02920" y="6547104"/>
            <a:ext cx="5029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Notso AI  |  v21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10789920" y="6547104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 / 11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F6F8FB"/>
          </a:solidFill>
          <a:ln w="12700">
            <a:solidFill>
              <a:srgbClr val="F6F8F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58368"/>
            <a:ext cx="10972800" cy="0"/>
          </a:xfrm>
          <a:prstGeom prst="line">
            <a:avLst/>
          </a:prstGeom>
          <a:noFill/>
          <a:ln w="12700">
            <a:solidFill>
              <a:srgbClr val="D7E3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86868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Concept Direction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94360" y="1261872"/>
            <a:ext cx="7772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A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animated chatbot experience we propose.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8321040" y="896112"/>
            <a:ext cx="3383280" cy="502920"/>
          </a:xfrm>
          <a:prstGeom prst="roundRect">
            <a:avLst>
              <a:gd name="adj" fmla="val 14545"/>
            </a:avLst>
          </a:prstGeom>
          <a:solidFill>
            <a:srgbClr val="E9F8FA"/>
          </a:solidFill>
          <a:ln w="12700">
            <a:solidFill>
              <a:srgbClr val="C2F0F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67344" y="1042416"/>
            <a:ext cx="306324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0F3A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Purpose: Define the strategic concept in simple terms.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822960" y="1783080"/>
            <a:ext cx="6720840" cy="3611880"/>
          </a:xfrm>
          <a:prstGeom prst="roundRect">
            <a:avLst>
              <a:gd name="adj" fmla="val 2025"/>
            </a:avLst>
          </a:prstGeom>
          <a:solidFill>
            <a:srgbClr val="FFFFFF"/>
          </a:solidFill>
          <a:ln w="12700">
            <a:solidFill>
              <a:srgbClr val="D6E2F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24128" y="2029968"/>
            <a:ext cx="6309360" cy="8686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14213D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An animated assistant that reflects Notso AI's personality and communication style.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987552" y="2971800"/>
            <a:ext cx="6355080" cy="21945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152400" indent="-152400">
              <a:buSzPct val="100000"/>
              <a:buChar char="•"/>
            </a:pPr>
            <a:r>
              <a:rPr lang="en-US" sz="1300" dirty="0">
                <a:solidFill>
                  <a:srgbClr val="3E58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Structured intent paths for discovery, qualification, and support resolution.</a:t>
            </a:r>
            <a:endParaRPr lang="en-US" sz="1300" dirty="0"/>
          </a:p>
          <a:p>
            <a:pPr marL="152400" indent="-152400">
              <a:buSzPct val="100000"/>
              <a:buChar char="•"/>
            </a:pPr>
            <a:r>
              <a:rPr lang="en-US" sz="1300" dirty="0">
                <a:solidFill>
                  <a:srgbClr val="3E58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Prompt/content system that can be updated fast without reworking the whole UX.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726680" y="1783080"/>
            <a:ext cx="3611880" cy="2194560"/>
          </a:xfrm>
          <a:prstGeom prst="roundRect">
            <a:avLst>
              <a:gd name="adj" fmla="val 3333"/>
            </a:avLst>
          </a:prstGeom>
          <a:solidFill>
            <a:srgbClr val="F7FAFF"/>
          </a:solidFill>
          <a:ln w="12700">
            <a:solidFill>
              <a:srgbClr val="D6E2F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973568" y="2011680"/>
            <a:ext cx="30175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213D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Concept Pillars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882128" y="2240280"/>
            <a:ext cx="3200400" cy="150876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415A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 animated assistant that reflects Notso AI's personality and communication style.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415A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Structured intent paths for discovery, qualification, and support resolution.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415A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Prompt/content system that can be updated fast without reworking the whole UX.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973568" y="4069080"/>
            <a:ext cx="1325880" cy="1325880"/>
          </a:xfrm>
          <a:prstGeom prst="roundRect">
            <a:avLst>
              <a:gd name="adj" fmla="val 5517"/>
            </a:avLst>
          </a:prstGeom>
          <a:solidFill>
            <a:srgbClr val="F8FBFF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174736" y="4215384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C4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[Image]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8887968" y="4215384"/>
            <a:ext cx="210312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3155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Missing image placeholder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8174736" y="4471416"/>
            <a:ext cx="941832" cy="8503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4567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Implementation roadmap visual from discovery to launch and optimization.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0B1F4D"/>
          </a:solidFill>
          <a:ln w="12700">
            <a:solidFill>
              <a:srgbClr val="0B1F4D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" y="6547104"/>
            <a:ext cx="5029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Notso AI  |  v21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10789920" y="6547104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 / 11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F6F8FB"/>
          </a:solidFill>
          <a:ln w="12700">
            <a:solidFill>
              <a:srgbClr val="F6F8F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58368"/>
            <a:ext cx="10972800" cy="0"/>
          </a:xfrm>
          <a:prstGeom prst="line">
            <a:avLst/>
          </a:prstGeom>
          <a:noFill/>
          <a:ln w="12700">
            <a:solidFill>
              <a:srgbClr val="D7E3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86868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Experience Design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94360" y="1261872"/>
            <a:ext cx="7772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A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How the assistant should look and feel.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8321040" y="896112"/>
            <a:ext cx="3383280" cy="502920"/>
          </a:xfrm>
          <a:prstGeom prst="roundRect">
            <a:avLst>
              <a:gd name="adj" fmla="val 14545"/>
            </a:avLst>
          </a:prstGeom>
          <a:solidFill>
            <a:srgbClr val="E9F8FA"/>
          </a:solidFill>
          <a:ln w="12700">
            <a:solidFill>
              <a:srgbClr val="C2F0F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67344" y="1042416"/>
            <a:ext cx="306324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0F3A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Purpose: Translate brand into interface and motion.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822960" y="1783080"/>
            <a:ext cx="2578608" cy="2377440"/>
          </a:xfrm>
          <a:prstGeom prst="roundRect">
            <a:avLst>
              <a:gd name="adj" fmla="val 3077"/>
            </a:avLst>
          </a:prstGeom>
          <a:solidFill>
            <a:srgbClr val="F8FBFF"/>
          </a:solidFill>
          <a:ln w="12700">
            <a:solidFill>
              <a:srgbClr val="D8E2F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05840" y="1993392"/>
            <a:ext cx="38404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406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005840" y="2267712"/>
            <a:ext cx="2194560" cy="1737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405B8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Premium motion language with smooth entrance and clear state transitions.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611880" y="1783080"/>
            <a:ext cx="2578608" cy="2377440"/>
          </a:xfrm>
          <a:prstGeom prst="roundRect">
            <a:avLst>
              <a:gd name="adj" fmla="val 3077"/>
            </a:avLst>
          </a:prstGeom>
          <a:solidFill>
            <a:srgbClr val="F8FBFF"/>
          </a:solidFill>
          <a:ln w="12700">
            <a:solidFill>
              <a:srgbClr val="D8E2F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794760" y="1993392"/>
            <a:ext cx="38404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406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794760" y="2267712"/>
            <a:ext cx="2194560" cy="1737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405B8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Low-cognitive-load layout: concise prompts, progressive disclosure, decisive CTA placement.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400800" y="1783080"/>
            <a:ext cx="2578608" cy="2377440"/>
          </a:xfrm>
          <a:prstGeom prst="roundRect">
            <a:avLst>
              <a:gd name="adj" fmla="val 3077"/>
            </a:avLst>
          </a:prstGeom>
          <a:solidFill>
            <a:srgbClr val="F8FBFF"/>
          </a:solidFill>
          <a:ln w="12700">
            <a:solidFill>
              <a:srgbClr val="D8E2F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0" y="1993392"/>
            <a:ext cx="38404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406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6583680" y="2267712"/>
            <a:ext cx="2194560" cy="1737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405B8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Accessibility-first defaults for contrast, keyboard flow, and reduced motion.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9189720" y="1783080"/>
            <a:ext cx="2578608" cy="2377440"/>
          </a:xfrm>
          <a:prstGeom prst="roundRect">
            <a:avLst>
              <a:gd name="adj" fmla="val 3077"/>
            </a:avLst>
          </a:prstGeom>
          <a:solidFill>
            <a:srgbClr val="F8FBFF"/>
          </a:solidFill>
          <a:ln w="12700">
            <a:solidFill>
              <a:srgbClr val="D8E2F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372600" y="1993392"/>
            <a:ext cx="38404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406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04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9372600" y="2267712"/>
            <a:ext cx="2194560" cy="1737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405B8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Feature panel 4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822960" y="4343400"/>
            <a:ext cx="379476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D7E1F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60704" y="4590288"/>
            <a:ext cx="292608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213D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Visual Direction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060704" y="4828032"/>
            <a:ext cx="3246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B6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Keep interface clean with calm motion and explicit next actions.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846320" y="4343400"/>
            <a:ext cx="1869440" cy="1051560"/>
          </a:xfrm>
          <a:prstGeom prst="roundRect">
            <a:avLst>
              <a:gd name="adj" fmla="val 6957"/>
            </a:avLst>
          </a:prstGeom>
          <a:solidFill>
            <a:srgbClr val="F8FBFF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47488" y="4489704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C4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[Image]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760720" y="4489704"/>
            <a:ext cx="753872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3155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Missing image placeholder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5047488" y="4745736"/>
            <a:ext cx="1485392" cy="5760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4567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UI and motion moodboard with clean premium SaaS patterns.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0B1F4D"/>
          </a:solidFill>
          <a:ln w="12700">
            <a:solidFill>
              <a:srgbClr val="0B1F4D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02920" y="6547104"/>
            <a:ext cx="5029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Notso AI  |  v21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10789920" y="6547104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 / 11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F6F8FB"/>
          </a:solidFill>
          <a:ln w="12700">
            <a:solidFill>
              <a:srgbClr val="F6F8F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58368"/>
            <a:ext cx="10972800" cy="0"/>
          </a:xfrm>
          <a:prstGeom prst="line">
            <a:avLst/>
          </a:prstGeom>
          <a:noFill/>
          <a:ln w="12700">
            <a:solidFill>
              <a:srgbClr val="D7E3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86868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Conversation Design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94360" y="1261872"/>
            <a:ext cx="7772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A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How users move through key chatbot journeys.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8321040" y="896112"/>
            <a:ext cx="3383280" cy="502920"/>
          </a:xfrm>
          <a:prstGeom prst="roundRect">
            <a:avLst>
              <a:gd name="adj" fmla="val 14545"/>
            </a:avLst>
          </a:prstGeom>
          <a:solidFill>
            <a:srgbClr val="E9F8FA"/>
          </a:solidFill>
          <a:ln w="12700">
            <a:solidFill>
              <a:srgbClr val="C2F0F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67344" y="1042416"/>
            <a:ext cx="306324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0F3A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Purpose: Show interaction logic and clarity.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822960" y="1783080"/>
            <a:ext cx="1046988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8E2F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234440" y="2542032"/>
            <a:ext cx="9601200" cy="0"/>
          </a:xfrm>
          <a:prstGeom prst="line">
            <a:avLst/>
          </a:prstGeom>
          <a:noFill/>
          <a:ln w="12700">
            <a:solidFill>
              <a:srgbClr val="BFD0E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88720" y="2350008"/>
            <a:ext cx="384048" cy="384048"/>
          </a:xfrm>
          <a:prstGeom prst="ellipse">
            <a:avLst/>
          </a:prstGeom>
          <a:solidFill>
            <a:srgbClr val="0B1F4D"/>
          </a:solidFill>
          <a:ln w="12700">
            <a:solidFill>
              <a:srgbClr val="0B1F4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335024" y="2487168"/>
            <a:ext cx="91440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886968" y="2816352"/>
            <a:ext cx="1024128" cy="786384"/>
          </a:xfrm>
          <a:prstGeom prst="roundRect">
            <a:avLst>
              <a:gd name="adj" fmla="val 6977"/>
            </a:avLst>
          </a:prstGeom>
          <a:solidFill>
            <a:srgbClr val="F8FBFF"/>
          </a:solidFill>
          <a:ln w="12700">
            <a:solidFill>
              <a:srgbClr val="D5E0F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60120" y="2907792"/>
            <a:ext cx="86868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35C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Welcome sequence introduces value and routes users in two turns.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5806440" y="2350008"/>
            <a:ext cx="384048" cy="384048"/>
          </a:xfrm>
          <a:prstGeom prst="ellipse">
            <a:avLst/>
          </a:prstGeom>
          <a:solidFill>
            <a:srgbClr val="0B1F4D"/>
          </a:solidFill>
          <a:ln w="12700">
            <a:solidFill>
              <a:srgbClr val="0B1F4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52744" y="2487168"/>
            <a:ext cx="91440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5504688" y="2816352"/>
            <a:ext cx="1024128" cy="786384"/>
          </a:xfrm>
          <a:prstGeom prst="roundRect">
            <a:avLst>
              <a:gd name="adj" fmla="val 6977"/>
            </a:avLst>
          </a:prstGeom>
          <a:solidFill>
            <a:srgbClr val="F8FBFF"/>
          </a:solidFill>
          <a:ln w="12700">
            <a:solidFill>
              <a:srgbClr val="D5E0F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577840" y="2907792"/>
            <a:ext cx="86868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35C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Intent map covers product discovery, pricing qualification, and support triage.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10424160" y="2350008"/>
            <a:ext cx="384048" cy="384048"/>
          </a:xfrm>
          <a:prstGeom prst="ellipse">
            <a:avLst/>
          </a:prstGeom>
          <a:solidFill>
            <a:srgbClr val="0B1F4D"/>
          </a:solidFill>
          <a:ln w="12700">
            <a:solidFill>
              <a:srgbClr val="0B1F4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570464" y="2487168"/>
            <a:ext cx="91440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10122408" y="2816352"/>
            <a:ext cx="1024128" cy="786384"/>
          </a:xfrm>
          <a:prstGeom prst="roundRect">
            <a:avLst>
              <a:gd name="adj" fmla="val 6977"/>
            </a:avLst>
          </a:prstGeom>
          <a:solidFill>
            <a:srgbClr val="F8FBFF"/>
          </a:solidFill>
          <a:ln w="12700">
            <a:solidFill>
              <a:srgbClr val="D5E0F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195560" y="2907792"/>
            <a:ext cx="86868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35C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Escalation path hands over transcript and context to a human operator.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822960" y="4069080"/>
            <a:ext cx="3840480" cy="1325880"/>
          </a:xfrm>
          <a:prstGeom prst="roundRect">
            <a:avLst>
              <a:gd name="adj" fmla="val 5517"/>
            </a:avLst>
          </a:prstGeom>
          <a:solidFill>
            <a:srgbClr val="F8FBFF"/>
          </a:solidFill>
          <a:ln w="12700">
            <a:solidFill>
              <a:srgbClr val="D8E2F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51560" y="4334256"/>
            <a:ext cx="2926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213D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Conversation Goal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051560" y="4590288"/>
            <a:ext cx="3383280" cy="6217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49628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Fast intent routing with clear handoff to human support when needed.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892040" y="4069080"/>
            <a:ext cx="2357120" cy="1325880"/>
          </a:xfrm>
          <a:prstGeom prst="roundRect">
            <a:avLst>
              <a:gd name="adj" fmla="val 5517"/>
            </a:avLst>
          </a:prstGeom>
          <a:solidFill>
            <a:srgbClr val="F8FBFF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93208" y="4215384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C4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[Image]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806440" y="4215384"/>
            <a:ext cx="1241552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3155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Missing image placeholder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5093208" y="4471416"/>
            <a:ext cx="1973072" cy="8503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4567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Conversation flow visual with intent routing and escalation nodes.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0B1F4D"/>
          </a:solidFill>
          <a:ln w="12700">
            <a:solidFill>
              <a:srgbClr val="0B1F4D">
                <a:alpha val="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02920" y="6547104"/>
            <a:ext cx="5029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Notso AI  |  v21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10789920" y="6547104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 / 11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F6F8FB"/>
          </a:solidFill>
          <a:ln w="12700">
            <a:solidFill>
              <a:srgbClr val="F6F8F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58368"/>
            <a:ext cx="10972800" cy="0"/>
          </a:xfrm>
          <a:prstGeom prst="line">
            <a:avLst/>
          </a:prstGeom>
          <a:noFill/>
          <a:ln w="12700">
            <a:solidFill>
              <a:srgbClr val="D7E3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86868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Solution Architecture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94360" y="1261872"/>
            <a:ext cx="7772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A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Core system components and integrations.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8321040" y="896112"/>
            <a:ext cx="3383280" cy="502920"/>
          </a:xfrm>
          <a:prstGeom prst="roundRect">
            <a:avLst>
              <a:gd name="adj" fmla="val 14545"/>
            </a:avLst>
          </a:prstGeom>
          <a:solidFill>
            <a:srgbClr val="E9F8FA"/>
          </a:solidFill>
          <a:ln w="12700">
            <a:solidFill>
              <a:srgbClr val="C2F0F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67344" y="1042416"/>
            <a:ext cx="306324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0F3A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Purpose: Prove feasibility and operational ownership.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822960" y="1783080"/>
            <a:ext cx="6492240" cy="3611880"/>
          </a:xfrm>
          <a:prstGeom prst="roundRect">
            <a:avLst>
              <a:gd name="adj" fmla="val 2025"/>
            </a:avLst>
          </a:prstGeom>
          <a:solidFill>
            <a:srgbClr val="FFFFFF"/>
          </a:solidFill>
          <a:ln w="12700">
            <a:solidFill>
              <a:srgbClr val="D8E2F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51560" y="2011680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213D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Layered Delivery Model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1051560" y="2359152"/>
            <a:ext cx="6035040" cy="786384"/>
          </a:xfrm>
          <a:prstGeom prst="roundRect">
            <a:avLst>
              <a:gd name="adj" fmla="val 6977"/>
            </a:avLst>
          </a:prstGeom>
          <a:solidFill>
            <a:srgbClr val="F4F8FF"/>
          </a:solidFill>
          <a:ln w="12700">
            <a:solidFill>
              <a:srgbClr val="D5E1F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243584" y="2542032"/>
            <a:ext cx="310896" cy="310896"/>
          </a:xfrm>
          <a:prstGeom prst="ellipse">
            <a:avLst/>
          </a:prstGeom>
          <a:solidFill>
            <a:srgbClr val="0B1F4D"/>
          </a:solidFill>
          <a:ln w="12700">
            <a:solidFill>
              <a:srgbClr val="0B1F4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344168" y="2642616"/>
            <a:ext cx="91440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L1</a:t>
            </a:r>
            <a:endParaRPr lang="en-US" sz="700" dirty="0"/>
          </a:p>
        </p:txBody>
      </p:sp>
      <p:sp>
        <p:nvSpPr>
          <p:cNvPr id="13" name="Text 11"/>
          <p:cNvSpPr/>
          <p:nvPr/>
        </p:nvSpPr>
        <p:spPr>
          <a:xfrm>
            <a:off x="1682496" y="2532888"/>
            <a:ext cx="5257800" cy="42062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415A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Shared conversation layer across website widget and in-product assistant.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1051560" y="3328416"/>
            <a:ext cx="6035040" cy="786384"/>
          </a:xfrm>
          <a:prstGeom prst="roundRect">
            <a:avLst>
              <a:gd name="adj" fmla="val 6977"/>
            </a:avLst>
          </a:prstGeom>
          <a:solidFill>
            <a:srgbClr val="F8FBFF"/>
          </a:solidFill>
          <a:ln w="12700">
            <a:solidFill>
              <a:srgbClr val="D5E1F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243584" y="3511296"/>
            <a:ext cx="310896" cy="310896"/>
          </a:xfrm>
          <a:prstGeom prst="ellipse">
            <a:avLst/>
          </a:prstGeom>
          <a:solidFill>
            <a:srgbClr val="0B1F4D"/>
          </a:solidFill>
          <a:ln w="12700">
            <a:solidFill>
              <a:srgbClr val="0B1F4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344168" y="3611880"/>
            <a:ext cx="91440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L2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1682496" y="3502152"/>
            <a:ext cx="5257800" cy="42062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415A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Editable knowledge base and scripted prompts managed through a lightweight CMS.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1051560" y="4297680"/>
            <a:ext cx="6035040" cy="786384"/>
          </a:xfrm>
          <a:prstGeom prst="roundRect">
            <a:avLst>
              <a:gd name="adj" fmla="val 6977"/>
            </a:avLst>
          </a:prstGeom>
          <a:solidFill>
            <a:srgbClr val="F4F8FF"/>
          </a:solidFill>
          <a:ln w="12700">
            <a:solidFill>
              <a:srgbClr val="D5E1F4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243584" y="4480560"/>
            <a:ext cx="310896" cy="310896"/>
          </a:xfrm>
          <a:prstGeom prst="ellipse">
            <a:avLst/>
          </a:prstGeom>
          <a:solidFill>
            <a:srgbClr val="0B1F4D"/>
          </a:solidFill>
          <a:ln w="12700">
            <a:solidFill>
              <a:srgbClr val="0B1F4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344168" y="4581144"/>
            <a:ext cx="91440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L3</a:t>
            </a:r>
            <a:endParaRPr lang="en-US" sz="700" dirty="0"/>
          </a:p>
        </p:txBody>
      </p:sp>
      <p:sp>
        <p:nvSpPr>
          <p:cNvPr id="21" name="Text 19"/>
          <p:cNvSpPr/>
          <p:nvPr/>
        </p:nvSpPr>
        <p:spPr>
          <a:xfrm>
            <a:off x="1682496" y="4471416"/>
            <a:ext cx="5257800" cy="42062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415A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Analytics instrumentation for completion rates, escalations, and conversion impact.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7589520" y="1783080"/>
            <a:ext cx="3749040" cy="3611880"/>
          </a:xfrm>
          <a:prstGeom prst="roundRect">
            <a:avLst>
              <a:gd name="adj" fmla="val 2025"/>
            </a:avLst>
          </a:prstGeom>
          <a:solidFill>
            <a:srgbClr val="F8FBFF"/>
          </a:solidFill>
          <a:ln w="12700">
            <a:solidFill>
              <a:srgbClr val="D8E2F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754112" y="2011680"/>
            <a:ext cx="3401568" cy="173736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415A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Shared conversation layer across website widget and in-product assistant.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415A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Editable knowledge base and scripted prompts managed through a lightweight CMS.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7772400" y="3886200"/>
            <a:ext cx="1767840" cy="1325880"/>
          </a:xfrm>
          <a:prstGeom prst="roundRect">
            <a:avLst>
              <a:gd name="adj" fmla="val 5517"/>
            </a:avLst>
          </a:prstGeom>
          <a:solidFill>
            <a:srgbClr val="F8FBFF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973568" y="4032504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C4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[Image]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8686800" y="4032504"/>
            <a:ext cx="652272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3155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Missing image placeholder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7973568" y="4288536"/>
            <a:ext cx="1383792" cy="8503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4567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System architecture diagram with chatbot, CMS, and analytics layers.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0B1F4D"/>
          </a:solidFill>
          <a:ln w="12700">
            <a:solidFill>
              <a:srgbClr val="0B1F4D">
                <a:alpha val="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2920" y="6547104"/>
            <a:ext cx="5029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Notso AI  |  v21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10789920" y="6547104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 / 11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F6F8FB"/>
          </a:solidFill>
          <a:ln w="12700">
            <a:solidFill>
              <a:srgbClr val="F6F8F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58368"/>
            <a:ext cx="10972800" cy="0"/>
          </a:xfrm>
          <a:prstGeom prst="line">
            <a:avLst/>
          </a:prstGeom>
          <a:noFill/>
          <a:ln w="12700">
            <a:solidFill>
              <a:srgbClr val="D7E3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86868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Design Options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94360" y="1261872"/>
            <a:ext cx="7772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A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Three visual directions for the chatbot.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8321040" y="896112"/>
            <a:ext cx="3383280" cy="502920"/>
          </a:xfrm>
          <a:prstGeom prst="roundRect">
            <a:avLst>
              <a:gd name="adj" fmla="val 14545"/>
            </a:avLst>
          </a:prstGeom>
          <a:solidFill>
            <a:srgbClr val="E9F8FA"/>
          </a:solidFill>
          <a:ln w="12700">
            <a:solidFill>
              <a:srgbClr val="C2F0F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67344" y="1042416"/>
            <a:ext cx="306324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0F3A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Purpose: Give clear style choices and trade-offs.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822960" y="1874520"/>
            <a:ext cx="3401568" cy="3822192"/>
          </a:xfrm>
          <a:prstGeom prst="roundRect">
            <a:avLst>
              <a:gd name="adj" fmla="val 2151"/>
            </a:avLst>
          </a:prstGeom>
          <a:solidFill>
            <a:srgbClr val="F8FAFF"/>
          </a:solidFill>
          <a:ln w="12700">
            <a:solidFill>
              <a:srgbClr val="D9E3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97280" y="2148840"/>
            <a:ext cx="2834640" cy="384048"/>
          </a:xfrm>
          <a:prstGeom prst="roundRect">
            <a:avLst>
              <a:gd name="adj" fmla="val 14286"/>
            </a:avLst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70432" y="2267712"/>
            <a:ext cx="265176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Option A - Playful Guide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115568" y="2697480"/>
            <a:ext cx="2834640" cy="2697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2D457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Rounded mascot with expressive gestures and optimistic tone.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617720" y="1874520"/>
            <a:ext cx="3401568" cy="3822192"/>
          </a:xfrm>
          <a:prstGeom prst="roundRect">
            <a:avLst>
              <a:gd name="adj" fmla="val 2151"/>
            </a:avLst>
          </a:prstGeom>
          <a:solidFill>
            <a:srgbClr val="F8FAFF"/>
          </a:solidFill>
          <a:ln w="12700">
            <a:solidFill>
              <a:srgbClr val="D9E3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892040" y="2148840"/>
            <a:ext cx="2834640" cy="384048"/>
          </a:xfrm>
          <a:prstGeom prst="roundRect">
            <a:avLst>
              <a:gd name="adj" fmla="val 14286"/>
            </a:avLst>
          </a:prstGeom>
          <a:solidFill>
            <a:srgbClr val="7D2AE8"/>
          </a:solidFill>
          <a:ln w="12700">
            <a:solidFill>
              <a:srgbClr val="7D2AE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65192" y="2267712"/>
            <a:ext cx="265176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Option B - Premium Concierge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910328" y="2697480"/>
            <a:ext cx="2834640" cy="2697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2D457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Refined avatar, elegant transitions, and restrained palette.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8412480" y="1874520"/>
            <a:ext cx="3401568" cy="3822192"/>
          </a:xfrm>
          <a:prstGeom prst="roundRect">
            <a:avLst>
              <a:gd name="adj" fmla="val 2151"/>
            </a:avLst>
          </a:prstGeom>
          <a:solidFill>
            <a:srgbClr val="F8FAFF"/>
          </a:solidFill>
          <a:ln w="12700">
            <a:solidFill>
              <a:srgbClr val="D9E3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686800" y="2148840"/>
            <a:ext cx="2834640" cy="384048"/>
          </a:xfrm>
          <a:prstGeom prst="roundRect">
            <a:avLst>
              <a:gd name="adj" fmla="val 14286"/>
            </a:avLst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759952" y="2267712"/>
            <a:ext cx="265176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Option C - Product Expert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8705088" y="2697480"/>
            <a:ext cx="2834640" cy="2697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2D457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Utility-first interaction model with speed-focused visuals.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8001000" y="4956048"/>
            <a:ext cx="1060704" cy="1060704"/>
          </a:xfrm>
          <a:prstGeom prst="roundRect">
            <a:avLst>
              <a:gd name="adj" fmla="val 6897"/>
            </a:avLst>
          </a:prstGeom>
          <a:solidFill>
            <a:srgbClr val="F8FBFF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202168" y="5102352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C4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[Image]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8915400" y="5102352"/>
            <a:ext cx="-54864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3155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Missing image placeholder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8202168" y="5358384"/>
            <a:ext cx="676656" cy="58521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4567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Three distinct design directions for chatbot avatar and interaction style.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0B1F4D"/>
          </a:solidFill>
          <a:ln w="12700">
            <a:solidFill>
              <a:srgbClr val="0B1F4D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2920" y="6547104"/>
            <a:ext cx="5029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Notso AI  |  v21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10789920" y="6547104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 / 11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F6F8FB"/>
          </a:solidFill>
          <a:ln w="12700">
            <a:solidFill>
              <a:srgbClr val="F6F8F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58368"/>
            <a:ext cx="10972800" cy="0"/>
          </a:xfrm>
          <a:prstGeom prst="line">
            <a:avLst/>
          </a:prstGeom>
          <a:noFill/>
          <a:ln w="12700">
            <a:solidFill>
              <a:srgbClr val="D7E3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86868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Implementation Timeline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94360" y="1261872"/>
            <a:ext cx="7772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A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From kickoff to launch in clear phases.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8321040" y="896112"/>
            <a:ext cx="3383280" cy="502920"/>
          </a:xfrm>
          <a:prstGeom prst="roundRect">
            <a:avLst>
              <a:gd name="adj" fmla="val 14545"/>
            </a:avLst>
          </a:prstGeom>
          <a:solidFill>
            <a:srgbClr val="E9F8FA"/>
          </a:solidFill>
          <a:ln w="12700">
            <a:solidFill>
              <a:srgbClr val="C2F0F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67344" y="1042416"/>
            <a:ext cx="306324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0F3A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Purpose: Show pace, ownership, and milestones.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3280410" y="2304288"/>
            <a:ext cx="228600" cy="0"/>
          </a:xfrm>
          <a:prstGeom prst="line">
            <a:avLst/>
          </a:prstGeom>
          <a:noFill/>
          <a:ln w="12700">
            <a:solidFill>
              <a:srgbClr val="A8BFE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932813" y="2121408"/>
            <a:ext cx="237744" cy="237744"/>
          </a:xfrm>
          <a:prstGeom prst="ellipse">
            <a:avLst/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22960" y="2468880"/>
            <a:ext cx="2457450" cy="3063240"/>
          </a:xfrm>
          <a:prstGeom prst="roundRect">
            <a:avLst>
              <a:gd name="adj" fmla="val 2977"/>
            </a:avLst>
          </a:prstGeom>
          <a:solidFill>
            <a:srgbClr val="F8FAFF"/>
          </a:solidFill>
          <a:ln w="12700">
            <a:solidFill>
              <a:srgbClr val="D8E3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05840" y="2743200"/>
            <a:ext cx="213741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4213D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Week 1-2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005840" y="3246120"/>
            <a:ext cx="2137410" cy="2057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3D56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Discovery, benchmarks, and measurable KPI definition.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966460" y="2304288"/>
            <a:ext cx="228600" cy="0"/>
          </a:xfrm>
          <a:prstGeom prst="line">
            <a:avLst/>
          </a:prstGeom>
          <a:noFill/>
          <a:ln w="12700">
            <a:solidFill>
              <a:srgbClr val="A8BFE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618863" y="2121408"/>
            <a:ext cx="237744" cy="237744"/>
          </a:xfrm>
          <a:prstGeom prst="ellipse">
            <a:avLst/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509010" y="2468880"/>
            <a:ext cx="2457450" cy="3063240"/>
          </a:xfrm>
          <a:prstGeom prst="roundRect">
            <a:avLst>
              <a:gd name="adj" fmla="val 2977"/>
            </a:avLst>
          </a:prstGeom>
          <a:solidFill>
            <a:srgbClr val="F4F7FF"/>
          </a:solidFill>
          <a:ln w="12700">
            <a:solidFill>
              <a:srgbClr val="D8E3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91890" y="2743200"/>
            <a:ext cx="213741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4213D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Week 3-4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691890" y="3246120"/>
            <a:ext cx="2137410" cy="2057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3D56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Visual direction and conversation prototype sign-off.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8652510" y="2304288"/>
            <a:ext cx="228600" cy="0"/>
          </a:xfrm>
          <a:prstGeom prst="line">
            <a:avLst/>
          </a:prstGeom>
          <a:noFill/>
          <a:ln w="12700">
            <a:solidFill>
              <a:srgbClr val="A8BFE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304913" y="2121408"/>
            <a:ext cx="237744" cy="237744"/>
          </a:xfrm>
          <a:prstGeom prst="ellipse">
            <a:avLst/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195060" y="2468880"/>
            <a:ext cx="2457450" cy="3063240"/>
          </a:xfrm>
          <a:prstGeom prst="roundRect">
            <a:avLst>
              <a:gd name="adj" fmla="val 2977"/>
            </a:avLst>
          </a:prstGeom>
          <a:solidFill>
            <a:srgbClr val="F8FAFF"/>
          </a:solidFill>
          <a:ln w="12700">
            <a:solidFill>
              <a:srgbClr val="D8E3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377940" y="2743200"/>
            <a:ext cx="213741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4213D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Week 5-6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377940" y="3246120"/>
            <a:ext cx="2137410" cy="2057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3D56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Production build, integrations, and QA hardening.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9990963" y="2121408"/>
            <a:ext cx="237744" cy="237744"/>
          </a:xfrm>
          <a:prstGeom prst="ellipse">
            <a:avLst/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881110" y="2468880"/>
            <a:ext cx="2457450" cy="3063240"/>
          </a:xfrm>
          <a:prstGeom prst="roundRect">
            <a:avLst>
              <a:gd name="adj" fmla="val 2977"/>
            </a:avLst>
          </a:prstGeom>
          <a:solidFill>
            <a:srgbClr val="F4F7FF"/>
          </a:solidFill>
          <a:ln w="12700">
            <a:solidFill>
              <a:srgbClr val="D8E3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063990" y="2743200"/>
            <a:ext cx="213741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4213D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Week 7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9063990" y="3246120"/>
            <a:ext cx="2137410" cy="2057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3D56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Launch, enablement, and optimization backlog.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7909560" y="4956048"/>
            <a:ext cx="1885696" cy="1060704"/>
          </a:xfrm>
          <a:prstGeom prst="roundRect">
            <a:avLst>
              <a:gd name="adj" fmla="val 6897"/>
            </a:avLst>
          </a:prstGeom>
          <a:solidFill>
            <a:srgbClr val="F8FBFF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110728" y="5102352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C4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[Image]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8823960" y="5102352"/>
            <a:ext cx="770128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3155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Missing image placeholder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8110728" y="5358384"/>
            <a:ext cx="1501648" cy="58521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4567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Roadmap-style timeline visual from discovery to launch.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0B1F4D"/>
          </a:solidFill>
          <a:ln w="12700">
            <a:solidFill>
              <a:srgbClr val="0B1F4D">
                <a:alpha val="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02920" y="6547104"/>
            <a:ext cx="5029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Notso AI  |  v21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10789920" y="6547104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 / 11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F6F8FB"/>
          </a:solidFill>
          <a:ln w="12700">
            <a:solidFill>
              <a:srgbClr val="F6F8F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58368"/>
            <a:ext cx="10972800" cy="0"/>
          </a:xfrm>
          <a:prstGeom prst="line">
            <a:avLst/>
          </a:prstGeom>
          <a:noFill/>
          <a:ln w="12700">
            <a:solidFill>
              <a:srgbClr val="D7E3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86868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Pricing Options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94360" y="1261872"/>
            <a:ext cx="7772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A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Flexible packages based on scope and velocity.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8321040" y="896112"/>
            <a:ext cx="3383280" cy="502920"/>
          </a:xfrm>
          <a:prstGeom prst="roundRect">
            <a:avLst>
              <a:gd name="adj" fmla="val 14545"/>
            </a:avLst>
          </a:prstGeom>
          <a:solidFill>
            <a:srgbClr val="E9F8FA"/>
          </a:solidFill>
          <a:ln w="12700">
            <a:solidFill>
              <a:srgbClr val="C2F0F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67344" y="1042416"/>
            <a:ext cx="306324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0F3A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Purpose: Make commercial decisions easier.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868680" y="1783080"/>
            <a:ext cx="3401568" cy="3931920"/>
          </a:xfrm>
          <a:prstGeom prst="roundRect">
            <a:avLst>
              <a:gd name="adj" fmla="val 2151"/>
            </a:avLst>
          </a:prstGeom>
          <a:solidFill>
            <a:srgbClr val="F8FAFF"/>
          </a:solidFill>
          <a:ln w="12700">
            <a:solidFill>
              <a:srgbClr val="D7E2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97280" y="2057400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Starter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97280" y="2606040"/>
            <a:ext cx="29260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7D2AE8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EUR 8.500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1097280" y="3081528"/>
            <a:ext cx="2834640" cy="0"/>
          </a:xfrm>
          <a:prstGeom prst="line">
            <a:avLst/>
          </a:prstGeom>
          <a:noFill/>
          <a:ln w="12700">
            <a:solidFill>
              <a:srgbClr val="D4DEF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97280" y="3246120"/>
            <a:ext cx="2926080" cy="21945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37507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Core assistant with 3 high-impact flows and launch support.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663440" y="1783080"/>
            <a:ext cx="3401568" cy="3931920"/>
          </a:xfrm>
          <a:prstGeom prst="roundRect">
            <a:avLst>
              <a:gd name="adj" fmla="val 2151"/>
            </a:avLst>
          </a:prstGeom>
          <a:solidFill>
            <a:srgbClr val="EEF8FF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92040" y="2057400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Growth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892040" y="2606040"/>
            <a:ext cx="29260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7D2AE8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EUR 14.500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4892040" y="3081528"/>
            <a:ext cx="2834640" cy="0"/>
          </a:xfrm>
          <a:prstGeom prst="line">
            <a:avLst/>
          </a:prstGeom>
          <a:noFill/>
          <a:ln w="12700">
            <a:solidFill>
              <a:srgbClr val="D4DEF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92040" y="3246120"/>
            <a:ext cx="2926080" cy="21945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37507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Expanded flow library, richer animation system, analytics dashboard.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458200" y="1783080"/>
            <a:ext cx="3401568" cy="3931920"/>
          </a:xfrm>
          <a:prstGeom prst="roundRect">
            <a:avLst>
              <a:gd name="adj" fmla="val 2151"/>
            </a:avLst>
          </a:prstGeom>
          <a:solidFill>
            <a:srgbClr val="F8FAFF"/>
          </a:solidFill>
          <a:ln w="12700">
            <a:solidFill>
              <a:srgbClr val="D7E2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686800" y="2057400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Scale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686800" y="2606040"/>
            <a:ext cx="29260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7D2AE8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EUR 22.000</a:t>
            </a:r>
            <a:endParaRPr lang="en-US" sz="2000" dirty="0"/>
          </a:p>
        </p:txBody>
      </p:sp>
      <p:sp>
        <p:nvSpPr>
          <p:cNvPr id="21" name="Shape 19"/>
          <p:cNvSpPr/>
          <p:nvPr/>
        </p:nvSpPr>
        <p:spPr>
          <a:xfrm>
            <a:off x="8686800" y="3081528"/>
            <a:ext cx="2834640" cy="0"/>
          </a:xfrm>
          <a:prstGeom prst="line">
            <a:avLst/>
          </a:prstGeom>
          <a:noFill/>
          <a:ln w="12700">
            <a:solidFill>
              <a:srgbClr val="D4DEF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686800" y="3246120"/>
            <a:ext cx="2926080" cy="21945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37507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Multi-language, CRM automation, and experimentation framework.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7909560" y="4937760"/>
            <a:ext cx="1463040" cy="1097280"/>
          </a:xfrm>
          <a:prstGeom prst="roundRect">
            <a:avLst>
              <a:gd name="adj" fmla="val 6667"/>
            </a:avLst>
          </a:prstGeom>
          <a:solidFill>
            <a:srgbClr val="F8FBFF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110728" y="5084064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C4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[Image]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8823960" y="5084064"/>
            <a:ext cx="347472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3155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Missing image placeholder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8110728" y="5340096"/>
            <a:ext cx="1078992" cy="6217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4567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Commercial tier comparison visual with three clear package cards.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0B1F4D"/>
          </a:solidFill>
          <a:ln w="12700">
            <a:solidFill>
              <a:srgbClr val="0B1F4D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02920" y="6547104"/>
            <a:ext cx="5029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Notso AI  |  v21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10789920" y="6547104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 / 11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F6F8FB"/>
          </a:solidFill>
          <a:ln w="12700">
            <a:solidFill>
              <a:srgbClr val="F6F8F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58368"/>
            <a:ext cx="10972800" cy="0"/>
          </a:xfrm>
          <a:prstGeom prst="line">
            <a:avLst/>
          </a:prstGeom>
          <a:noFill/>
          <a:ln w="12700">
            <a:solidFill>
              <a:srgbClr val="D7E3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86868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Team &amp; Responsibilities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94360" y="1261872"/>
            <a:ext cx="7772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A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Who does what across delivery.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8321040" y="896112"/>
            <a:ext cx="3383280" cy="502920"/>
          </a:xfrm>
          <a:prstGeom prst="roundRect">
            <a:avLst>
              <a:gd name="adj" fmla="val 14545"/>
            </a:avLst>
          </a:prstGeom>
          <a:solidFill>
            <a:srgbClr val="E9F8FA"/>
          </a:solidFill>
          <a:ln w="12700">
            <a:solidFill>
              <a:srgbClr val="C2F0F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67344" y="1042416"/>
            <a:ext cx="306324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0F3A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Purpose: Build trust in execution capability.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868680" y="1783080"/>
            <a:ext cx="5074920" cy="1234440"/>
          </a:xfrm>
          <a:prstGeom prst="roundRect">
            <a:avLst>
              <a:gd name="adj" fmla="val 5926"/>
            </a:avLst>
          </a:prstGeom>
          <a:solidFill>
            <a:srgbClr val="F7FAFF"/>
          </a:solidFill>
          <a:ln w="12700">
            <a:solidFill>
              <a:srgbClr val="D7E3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24712" y="2139696"/>
            <a:ext cx="320040" cy="320040"/>
          </a:xfrm>
          <a:prstGeom prst="ellipse">
            <a:avLst/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600200" y="2057400"/>
            <a:ext cx="42062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4213D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Strategy Lead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600200" y="2404872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C558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Owns problem framing, scope clarity, and success metric alignment.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446520" y="1783080"/>
            <a:ext cx="5074920" cy="1234440"/>
          </a:xfrm>
          <a:prstGeom prst="roundRect">
            <a:avLst>
              <a:gd name="adj" fmla="val 5926"/>
            </a:avLst>
          </a:prstGeom>
          <a:solidFill>
            <a:srgbClr val="F7FAFF"/>
          </a:solidFill>
          <a:ln w="12700">
            <a:solidFill>
              <a:srgbClr val="D7E3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702552" y="2139696"/>
            <a:ext cx="320040" cy="320040"/>
          </a:xfrm>
          <a:prstGeom prst="ellipse">
            <a:avLst/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178040" y="2057400"/>
            <a:ext cx="42062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4213D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Conversation Designer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7178040" y="2404872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C558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Designs dialogue logic, guardrails, and fallback behavior.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868680" y="3291840"/>
            <a:ext cx="5074920" cy="1234440"/>
          </a:xfrm>
          <a:prstGeom prst="roundRect">
            <a:avLst>
              <a:gd name="adj" fmla="val 5926"/>
            </a:avLst>
          </a:prstGeom>
          <a:solidFill>
            <a:srgbClr val="F7FAFF"/>
          </a:solidFill>
          <a:ln w="12700">
            <a:solidFill>
              <a:srgbClr val="D7E3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124712" y="3648456"/>
            <a:ext cx="320040" cy="320040"/>
          </a:xfrm>
          <a:prstGeom prst="ellipse">
            <a:avLst/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600200" y="3566160"/>
            <a:ext cx="42062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4213D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Motion/UI Designer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600200" y="3913632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C558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Defines visual language, animation behavior, and interaction polish.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446520" y="3291840"/>
            <a:ext cx="5074920" cy="1234440"/>
          </a:xfrm>
          <a:prstGeom prst="roundRect">
            <a:avLst>
              <a:gd name="adj" fmla="val 5926"/>
            </a:avLst>
          </a:prstGeom>
          <a:solidFill>
            <a:srgbClr val="F7FAFF"/>
          </a:solidFill>
          <a:ln w="12700">
            <a:solidFill>
              <a:srgbClr val="D7E3F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702552" y="3648456"/>
            <a:ext cx="320040" cy="320040"/>
          </a:xfrm>
          <a:prstGeom prst="ellipse">
            <a:avLst/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178040" y="3566160"/>
            <a:ext cx="42062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4213D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Implementation Engineer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178040" y="3913632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C558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Delivers integration, deployment, and operational stability.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7909560" y="4983480"/>
            <a:ext cx="1051560" cy="1051560"/>
          </a:xfrm>
          <a:prstGeom prst="roundRect">
            <a:avLst>
              <a:gd name="adj" fmla="val 6957"/>
            </a:avLst>
          </a:prstGeom>
          <a:solidFill>
            <a:srgbClr val="F8FBFF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110728" y="5129784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C4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[Image]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8823960" y="5129784"/>
            <a:ext cx="-64008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3155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Missing image placeholder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8110728" y="5385816"/>
            <a:ext cx="667512" cy="5760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4567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Team responsibility visual showing delivery roles and ownership.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0B1F4D"/>
          </a:solidFill>
          <a:ln w="12700">
            <a:solidFill>
              <a:srgbClr val="0B1F4D">
                <a:alpha val="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2920" y="6547104"/>
            <a:ext cx="5029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Notso AI  |  v21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10789920" y="6547104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 / 11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F6F8FB"/>
          </a:solidFill>
          <a:ln w="12700">
            <a:solidFill>
              <a:srgbClr val="F6F8F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58368"/>
            <a:ext cx="10972800" cy="0"/>
          </a:xfrm>
          <a:prstGeom prst="line">
            <a:avLst/>
          </a:prstGeom>
          <a:noFill/>
          <a:ln w="12700">
            <a:solidFill>
              <a:srgbClr val="D7E3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86868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Next Steps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94360" y="1261872"/>
            <a:ext cx="7772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A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Decision points and kickoff actions.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8321040" y="896112"/>
            <a:ext cx="3383280" cy="502920"/>
          </a:xfrm>
          <a:prstGeom prst="roundRect">
            <a:avLst>
              <a:gd name="adj" fmla="val 14545"/>
            </a:avLst>
          </a:prstGeom>
          <a:solidFill>
            <a:srgbClr val="E9F8FA"/>
          </a:solidFill>
          <a:ln w="12700">
            <a:solidFill>
              <a:srgbClr val="C2F0F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67344" y="1042416"/>
            <a:ext cx="306324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0F3A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Purpose: Convert alignment into action.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868680" y="1783080"/>
            <a:ext cx="658368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D8E3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51560" y="1929384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25296" y="2084832"/>
            <a:ext cx="16459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737360" y="2011680"/>
            <a:ext cx="55778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421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Select preferred concept direction and commercial package.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68680" y="2770632"/>
            <a:ext cx="658368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D8E3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51560" y="2916936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225296" y="3072384"/>
            <a:ext cx="16459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737360" y="2999232"/>
            <a:ext cx="55778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421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Schedule stakeholder kickoff with product, marketing, and support.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68680" y="3758184"/>
            <a:ext cx="658368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D8E3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051560" y="3904488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225296" y="4059936"/>
            <a:ext cx="16459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737360" y="3986784"/>
            <a:ext cx="55778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421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Start discovery sprint and deliver first interactive prototype.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7772400" y="1783080"/>
            <a:ext cx="3566160" cy="361188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12700">
            <a:solidFill>
              <a:srgbClr val="D8E3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046720" y="2029968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Contact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8046720" y="2468880"/>
            <a:ext cx="2926080" cy="1234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35507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Max Kowalski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5507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max@notso.ai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5507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+31 6 40450599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8046720" y="3950208"/>
            <a:ext cx="2834640" cy="566928"/>
          </a:xfrm>
          <a:prstGeom prst="roundRect">
            <a:avLst>
              <a:gd name="adj" fmla="val 12903"/>
            </a:avLst>
          </a:prstGeom>
          <a:solidFill>
            <a:srgbClr val="7D2AE8"/>
          </a:solidFill>
          <a:ln w="12700">
            <a:solidFill>
              <a:srgbClr val="7D2AE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046720" y="4133088"/>
            <a:ext cx="2834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Kickoff Ready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7772400" y="4709160"/>
            <a:ext cx="1402080" cy="1051560"/>
          </a:xfrm>
          <a:prstGeom prst="roundRect">
            <a:avLst>
              <a:gd name="adj" fmla="val 6957"/>
            </a:avLst>
          </a:prstGeom>
          <a:solidFill>
            <a:srgbClr val="F8FBFF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973568" y="4855464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C4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[Image]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8686800" y="4855464"/>
            <a:ext cx="286512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3155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Missing image placeholder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7973568" y="5111496"/>
            <a:ext cx="1018032" cy="5760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4567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Decision and kickoff action visual with clear momentum.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0B1F4D"/>
          </a:solidFill>
          <a:ln w="12700">
            <a:solidFill>
              <a:srgbClr val="0B1F4D">
                <a:alpha val="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02920" y="6547104"/>
            <a:ext cx="5029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Notso AI  |  v21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10789920" y="6547104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11 / 11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Sor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nte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Notso 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Animated Chatbot Proposal - Notso Sales</dc:title>
  <dc:subject>Animated Chatbot Proposal for Notso Sales</dc:subject>
  <dc:creator>Max Kowalski</dc:creator>
  <cp:lastModifiedBy>Max Kowalski</cp:lastModifiedBy>
  <cp:revision>1</cp:revision>
  <dcterms:created xsi:type="dcterms:W3CDTF">2026-03-23T13:19:45Z</dcterms:created>
  <dcterms:modified xsi:type="dcterms:W3CDTF">2026-03-23T13:19:45Z</dcterms:modified>
</cp:coreProperties>
</file>