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6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543800" y="-1097280"/>
            <a:ext cx="5669280" cy="5669280"/>
          </a:xfrm>
          <a:prstGeom prst="ellipse">
            <a:avLst/>
          </a:prstGeom>
          <a:solidFill>
            <a:srgbClr val="7D2AE8">
              <a:alpha val="14000"/>
            </a:srgbClr>
          </a:solidFill>
          <a:ln w="12700">
            <a:solidFill>
              <a:srgbClr val="7D2AE8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126480" y="2377440"/>
            <a:ext cx="4754880" cy="4754880"/>
          </a:xfrm>
          <a:prstGeom prst="ellipse">
            <a:avLst/>
          </a:prstGeom>
          <a:solidFill>
            <a:srgbClr val="00C4CC">
              <a:alpha val="12000"/>
            </a:srgbClr>
          </a:solidFill>
          <a:ln w="12700">
            <a:solidFill>
              <a:srgbClr val="00C4CC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046720" y="0"/>
            <a:ext cx="4142232" cy="6858000"/>
          </a:xfrm>
          <a:prstGeom prst="roundRect">
            <a:avLst/>
          </a:prstGeom>
          <a:solidFill>
            <a:srgbClr val="0B1F4D"/>
          </a:solidFill>
          <a:ln w="12700">
            <a:solidFill>
              <a:srgbClr val="0B1F4D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85800" y="1005840"/>
            <a:ext cx="6766560" cy="10515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3400" b="1" dirty="0">
                <a:solidFill>
                  <a:srgbClr val="14213D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Acme Client Animated Chatbot Proposal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713232" y="2240280"/>
            <a:ext cx="64008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1477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 premium conversational assistant strategy for Acme Client.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31477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Prepared for Acme Client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713232" y="3840480"/>
            <a:ext cx="6720840" cy="1097280"/>
          </a:xfrm>
          <a:prstGeom prst="roundRect">
            <a:avLst>
              <a:gd name="adj" fmla="val 6667"/>
            </a:avLst>
          </a:prstGeom>
          <a:solidFill>
            <a:srgbClr val="FFFFFF">
              <a:alpha val="88000"/>
            </a:srgbClr>
          </a:solidFill>
          <a:ln w="12700">
            <a:solidFill>
              <a:srgbClr val="D1E1F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60120" y="4069080"/>
            <a:ext cx="6217920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1D37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Objective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D37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Design and launch an animated chatbot for acme-client.com that improves response quality, qualification speed, and conversion confidence.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8595360" y="1097280"/>
            <a:ext cx="283464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Notso AI</a:t>
            </a:r>
            <a:endParaRPr lang="en-US" sz="3000" dirty="0"/>
          </a:p>
        </p:txBody>
      </p:sp>
      <p:sp>
        <p:nvSpPr>
          <p:cNvPr id="10" name="Text 8"/>
          <p:cNvSpPr/>
          <p:nvPr/>
        </p:nvSpPr>
        <p:spPr>
          <a:xfrm>
            <a:off x="8595360" y="1828800"/>
            <a:ext cx="28346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D7E4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Animated Chatbot Proposal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8595360" y="2743200"/>
            <a:ext cx="2834640" cy="475488"/>
          </a:xfrm>
          <a:prstGeom prst="roundRect">
            <a:avLst>
              <a:gd name="adj" fmla="val 15385"/>
            </a:avLst>
          </a:prstGeom>
          <a:solidFill>
            <a:srgbClr val="00C4CC"/>
          </a:solidFill>
          <a:ln w="12700">
            <a:solidFill>
              <a:srgbClr val="00C4C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595360" y="2889504"/>
            <a:ext cx="28346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Pitch Deck Proposal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8595360" y="3310128"/>
            <a:ext cx="283464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DCE9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https://www.acme-client.com</a:t>
            </a:r>
            <a:endParaRPr lang="en-US" sz="800" dirty="0"/>
          </a:p>
        </p:txBody>
      </p:sp>
      <p:sp>
        <p:nvSpPr>
          <p:cNvPr id="14" name="Shape 12"/>
          <p:cNvSpPr/>
          <p:nvPr/>
        </p:nvSpPr>
        <p:spPr>
          <a:xfrm>
            <a:off x="8595360" y="3703320"/>
            <a:ext cx="2834640" cy="1463040"/>
          </a:xfrm>
          <a:prstGeom prst="roundRect">
            <a:avLst>
              <a:gd name="adj" fmla="val 5000"/>
            </a:avLst>
          </a:prstGeom>
          <a:solidFill>
            <a:srgbClr val="FFFFFF">
              <a:alpha val="92000"/>
            </a:srgbClr>
          </a:solidFill>
          <a:ln w="12700">
            <a:solidFill>
              <a:srgbClr val="D2DAEE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796528" y="3977640"/>
            <a:ext cx="2468880" cy="10515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1A33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Deck version: v1.0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A33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Max Kowalski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A33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max@notso.ai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8595360" y="5166360"/>
            <a:ext cx="1983232" cy="1115568"/>
          </a:xfrm>
          <a:prstGeom prst="roundRect">
            <a:avLst>
              <a:gd name="adj" fmla="val 6557"/>
            </a:avLst>
          </a:prstGeom>
          <a:solidFill>
            <a:srgbClr val="F8FBFF"/>
          </a:solidFill>
          <a:ln w="12700">
            <a:solidFill>
              <a:srgbClr val="00C4C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796528" y="5312664"/>
            <a:ext cx="8229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C4C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[Image]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9509760" y="5312664"/>
            <a:ext cx="867664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31558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Missing image placeholder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8796528" y="5568696"/>
            <a:ext cx="1599184" cy="6400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45679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Slide 1 (title) :: Premium SaaS illustration for Animated Chatbot Proposal slide. Animated chatbot context for Acme Client. Brand palette #0B1F4D, #00C4CC, #7D2AE8. No text overlays.</a:t>
            </a:r>
            <a:endParaRPr lang="en-US" sz="800" dirty="0"/>
          </a:p>
        </p:txBody>
      </p:sp>
      <p:sp>
        <p:nvSpPr>
          <p:cNvPr id="20" name="Shape 18"/>
          <p:cNvSpPr/>
          <p:nvPr/>
        </p:nvSpPr>
        <p:spPr>
          <a:xfrm>
            <a:off x="0" y="6419088"/>
            <a:ext cx="12191695" cy="438912"/>
          </a:xfrm>
          <a:prstGeom prst="rect">
            <a:avLst/>
          </a:prstGeom>
          <a:solidFill>
            <a:srgbClr val="0B1F4D"/>
          </a:solidFill>
          <a:ln w="12700">
            <a:solidFill>
              <a:srgbClr val="0B1F4D">
                <a:alpha val="0"/>
              </a:srgbClr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02920" y="6547104"/>
            <a:ext cx="50292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Notso AI  |  v1.0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10789920" y="6547104"/>
            <a:ext cx="9144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 / 11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40080"/>
          </a:xfrm>
          <a:prstGeom prst="rect">
            <a:avLst/>
          </a:prstGeom>
          <a:solidFill>
            <a:srgbClr val="F6F8FB"/>
          </a:solidFill>
          <a:ln w="12700">
            <a:solidFill>
              <a:srgbClr val="F6F8FB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48640" y="658368"/>
            <a:ext cx="10972800" cy="0"/>
          </a:xfrm>
          <a:prstGeom prst="line">
            <a:avLst/>
          </a:prstGeom>
          <a:noFill/>
          <a:ln w="12700">
            <a:solidFill>
              <a:srgbClr val="D7E3F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94360" y="868680"/>
            <a:ext cx="7132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4213D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Client Situation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594360" y="1261872"/>
            <a:ext cx="77724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B5A7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What is blocking growth today.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8321040" y="896112"/>
            <a:ext cx="3383280" cy="502920"/>
          </a:xfrm>
          <a:prstGeom prst="roundRect">
            <a:avLst>
              <a:gd name="adj" fmla="val 14545"/>
            </a:avLst>
          </a:prstGeom>
          <a:solidFill>
            <a:srgbClr val="E9F8FA"/>
          </a:solidFill>
          <a:ln w="12700">
            <a:solidFill>
              <a:srgbClr val="C2F0F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467344" y="1042416"/>
            <a:ext cx="3063240" cy="23774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0F3A5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Purpose: Create urgency with concrete pain points.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822960" y="1783080"/>
            <a:ext cx="3383280" cy="1325880"/>
          </a:xfrm>
          <a:prstGeom prst="roundRect">
            <a:avLst>
              <a:gd name="adj" fmla="val 5517"/>
            </a:avLst>
          </a:prstGeom>
          <a:solidFill>
            <a:srgbClr val="F8FBFF"/>
          </a:solidFill>
          <a:ln w="12700">
            <a:solidFill>
              <a:srgbClr val="D5E1F8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024128" y="2011680"/>
            <a:ext cx="310896" cy="310896"/>
          </a:xfrm>
          <a:prstGeom prst="ellipse">
            <a:avLst/>
          </a:prstGeom>
          <a:solidFill>
            <a:srgbClr val="0B1F4D"/>
          </a:solidFill>
          <a:ln w="12700">
            <a:solidFill>
              <a:srgbClr val="0B1F4D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133856" y="2112264"/>
            <a:ext cx="91440" cy="91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1426464" y="1975104"/>
            <a:ext cx="2670048" cy="9418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35507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Acme Client loses momentum when visitors cannot get instant answers on acme-client.com.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434840" y="1783080"/>
            <a:ext cx="3383280" cy="1325880"/>
          </a:xfrm>
          <a:prstGeom prst="roundRect">
            <a:avLst>
              <a:gd name="adj" fmla="val 5517"/>
            </a:avLst>
          </a:prstGeom>
          <a:solidFill>
            <a:srgbClr val="F8FBFF"/>
          </a:solidFill>
          <a:ln w="12700">
            <a:solidFill>
              <a:srgbClr val="D5E1F8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636008" y="2011680"/>
            <a:ext cx="310896" cy="310896"/>
          </a:xfrm>
          <a:prstGeom prst="ellipse">
            <a:avLst/>
          </a:prstGeom>
          <a:solidFill>
            <a:srgbClr val="0B1F4D"/>
          </a:solidFill>
          <a:ln w="12700">
            <a:solidFill>
              <a:srgbClr val="0B1F4D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745736" y="2112264"/>
            <a:ext cx="91440" cy="91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5038344" y="1975104"/>
            <a:ext cx="2670048" cy="9418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35507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Support and pre-sales requests are repeated manually across channels.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8046720" y="1783080"/>
            <a:ext cx="3383280" cy="1325880"/>
          </a:xfrm>
          <a:prstGeom prst="roundRect">
            <a:avLst>
              <a:gd name="adj" fmla="val 5517"/>
            </a:avLst>
          </a:prstGeom>
          <a:solidFill>
            <a:srgbClr val="F8FBFF"/>
          </a:solidFill>
          <a:ln w="12700">
            <a:solidFill>
              <a:srgbClr val="D5E1F8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247888" y="2011680"/>
            <a:ext cx="310896" cy="310896"/>
          </a:xfrm>
          <a:prstGeom prst="ellipse">
            <a:avLst/>
          </a:prstGeom>
          <a:solidFill>
            <a:srgbClr val="0B1F4D"/>
          </a:solidFill>
          <a:ln w="12700">
            <a:solidFill>
              <a:srgbClr val="0B1F4D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357616" y="2112264"/>
            <a:ext cx="91440" cy="91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8650224" y="1975104"/>
            <a:ext cx="2670048" cy="9418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35507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Current automated journeys lack distinctive brand voice and visual character.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822960" y="3291840"/>
            <a:ext cx="6812280" cy="2057400"/>
          </a:xfrm>
          <a:prstGeom prst="roundRect">
            <a:avLst>
              <a:gd name="adj" fmla="val 3556"/>
            </a:avLst>
          </a:prstGeom>
          <a:solidFill>
            <a:srgbClr val="FFFFFF"/>
          </a:solidFill>
          <a:ln w="12700">
            <a:solidFill>
              <a:srgbClr val="D7E2F6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060704" y="3547872"/>
            <a:ext cx="2743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4213D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Why This Matters Now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960120" y="3794760"/>
            <a:ext cx="6355080" cy="14173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marL="127000" indent="-127000">
              <a:buSzPct val="100000"/>
              <a:buChar char="•"/>
            </a:pPr>
            <a:r>
              <a:rPr lang="en-US" sz="1200" dirty="0">
                <a:solidFill>
                  <a:srgbClr val="3E588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Acme Client loses momentum when visitors cannot get instant answers on acme-client.com.</a:t>
            </a:r>
            <a:endParaRPr lang="en-US" sz="1200" dirty="0"/>
          </a:p>
          <a:p>
            <a:pPr marL="127000" indent="-127000">
              <a:buSzPct val="100000"/>
              <a:buChar char="•"/>
            </a:pPr>
            <a:r>
              <a:rPr lang="en-US" sz="1200" dirty="0">
                <a:solidFill>
                  <a:srgbClr val="3E588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Support and pre-sales requests are repeated manually across channels.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7863840" y="3429000"/>
            <a:ext cx="2560320" cy="1920240"/>
          </a:xfrm>
          <a:prstGeom prst="roundRect">
            <a:avLst>
              <a:gd name="adj" fmla="val 3810"/>
            </a:avLst>
          </a:prstGeom>
          <a:solidFill>
            <a:srgbClr val="F8FBFF"/>
          </a:solidFill>
          <a:ln w="12700">
            <a:solidFill>
              <a:srgbClr val="00C4CC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8065008" y="3575304"/>
            <a:ext cx="8229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C4C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[Image]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8778240" y="3575304"/>
            <a:ext cx="1444752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31558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Missing image placeholder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8065008" y="3831336"/>
            <a:ext cx="2176272" cy="144475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45679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Slide 2 (client-situation) :: Premium SaaS illustration for Client Situation slide. Animated chatbot context for Acme Client. Brand palette #0B1F4D, #00C4CC, #7D2AE8. No text overlays.</a:t>
            </a:r>
            <a:endParaRPr lang="en-US" sz="800" dirty="0"/>
          </a:p>
        </p:txBody>
      </p:sp>
      <p:sp>
        <p:nvSpPr>
          <p:cNvPr id="27" name="Shape 25"/>
          <p:cNvSpPr/>
          <p:nvPr/>
        </p:nvSpPr>
        <p:spPr>
          <a:xfrm>
            <a:off x="0" y="6419088"/>
            <a:ext cx="12191695" cy="438912"/>
          </a:xfrm>
          <a:prstGeom prst="rect">
            <a:avLst/>
          </a:prstGeom>
          <a:solidFill>
            <a:srgbClr val="0B1F4D"/>
          </a:solidFill>
          <a:ln w="12700">
            <a:solidFill>
              <a:srgbClr val="0B1F4D">
                <a:alpha val="0"/>
              </a:srgbClr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02920" y="6547104"/>
            <a:ext cx="50292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Notso AI  |  v1.0</a:t>
            </a:r>
            <a:endParaRPr lang="en-US" sz="800" dirty="0"/>
          </a:p>
        </p:txBody>
      </p:sp>
      <p:sp>
        <p:nvSpPr>
          <p:cNvPr id="29" name="Text 27"/>
          <p:cNvSpPr/>
          <p:nvPr/>
        </p:nvSpPr>
        <p:spPr>
          <a:xfrm>
            <a:off x="10789920" y="6547104"/>
            <a:ext cx="9144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 / 11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40080"/>
          </a:xfrm>
          <a:prstGeom prst="rect">
            <a:avLst/>
          </a:prstGeom>
          <a:solidFill>
            <a:srgbClr val="F6F8FB"/>
          </a:solidFill>
          <a:ln w="12700">
            <a:solidFill>
              <a:srgbClr val="F6F8FB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48640" y="658368"/>
            <a:ext cx="10972800" cy="0"/>
          </a:xfrm>
          <a:prstGeom prst="line">
            <a:avLst/>
          </a:prstGeom>
          <a:noFill/>
          <a:ln w="12700">
            <a:solidFill>
              <a:srgbClr val="D7E3F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94360" y="868680"/>
            <a:ext cx="7132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4213D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Concept Direction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594360" y="1261872"/>
            <a:ext cx="77724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B5A7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animated chatbot experience we propose.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8321040" y="896112"/>
            <a:ext cx="3383280" cy="502920"/>
          </a:xfrm>
          <a:prstGeom prst="roundRect">
            <a:avLst>
              <a:gd name="adj" fmla="val 14545"/>
            </a:avLst>
          </a:prstGeom>
          <a:solidFill>
            <a:srgbClr val="E9F8FA"/>
          </a:solidFill>
          <a:ln w="12700">
            <a:solidFill>
              <a:srgbClr val="C2F0F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467344" y="1042416"/>
            <a:ext cx="3063240" cy="23774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0F3A5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Purpose: Define the strategic concept in simple terms.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822960" y="1783080"/>
            <a:ext cx="6720840" cy="3611880"/>
          </a:xfrm>
          <a:prstGeom prst="roundRect">
            <a:avLst>
              <a:gd name="adj" fmla="val 2025"/>
            </a:avLst>
          </a:prstGeom>
          <a:solidFill>
            <a:srgbClr val="FFFFFF"/>
          </a:solidFill>
          <a:ln w="12700">
            <a:solidFill>
              <a:srgbClr val="D6E2F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024128" y="2029968"/>
            <a:ext cx="6309360" cy="8686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000" dirty="0">
                <a:solidFill>
                  <a:srgbClr val="14213D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Build an animated chatbot persona aligned with Notso AI brand expression.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987552" y="2971800"/>
            <a:ext cx="6355080" cy="21945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marL="152400" indent="-152400">
              <a:buSzPct val="100000"/>
              <a:buChar char="•"/>
            </a:pPr>
            <a:r>
              <a:rPr lang="en-US" sz="1300" dirty="0">
                <a:solidFill>
                  <a:srgbClr val="3E588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Guide users through concise decision paths with clear outcomes in each turn.</a:t>
            </a:r>
            <a:endParaRPr lang="en-US" sz="1300" dirty="0"/>
          </a:p>
          <a:p>
            <a:pPr marL="152400" indent="-152400">
              <a:buSzPct val="100000"/>
              <a:buChar char="•"/>
            </a:pPr>
            <a:r>
              <a:rPr lang="en-US" sz="1300" dirty="0">
                <a:solidFill>
                  <a:srgbClr val="3E588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Make copy and prompts easy to update so the concept evolves without redesigning slides.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7726680" y="1783080"/>
            <a:ext cx="3611880" cy="2194560"/>
          </a:xfrm>
          <a:prstGeom prst="roundRect">
            <a:avLst>
              <a:gd name="adj" fmla="val 3333"/>
            </a:avLst>
          </a:prstGeom>
          <a:solidFill>
            <a:srgbClr val="F7FAFF"/>
          </a:solidFill>
          <a:ln w="12700">
            <a:solidFill>
              <a:srgbClr val="D6E2F7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973568" y="2011680"/>
            <a:ext cx="301752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4213D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Concept Pillars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7882128" y="2240280"/>
            <a:ext cx="3200400" cy="1508760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t"/>
          <a:lstStyle/>
          <a:p>
            <a:pPr marL="101600" indent="-101600">
              <a:buSzPct val="100000"/>
              <a:buChar char="•"/>
            </a:pPr>
            <a:r>
              <a:rPr lang="en-US" sz="1000" dirty="0">
                <a:solidFill>
                  <a:srgbClr val="415A8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Build an animated chatbot persona aligned with Notso AI brand expression.</a:t>
            </a:r>
            <a:endParaRPr lang="en-US" sz="1000" dirty="0"/>
          </a:p>
          <a:p>
            <a:pPr marL="101600" indent="-101600">
              <a:buSzPct val="100000"/>
              <a:buChar char="•"/>
            </a:pPr>
            <a:r>
              <a:rPr lang="en-US" sz="1000" dirty="0">
                <a:solidFill>
                  <a:srgbClr val="415A8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Guide users through concise decision paths with clear outcomes in each turn.</a:t>
            </a:r>
            <a:endParaRPr lang="en-US" sz="1000" dirty="0"/>
          </a:p>
          <a:p>
            <a:pPr marL="101600" indent="-101600">
              <a:buSzPct val="100000"/>
              <a:buChar char="•"/>
            </a:pPr>
            <a:r>
              <a:rPr lang="en-US" sz="1000" dirty="0">
                <a:solidFill>
                  <a:srgbClr val="415A8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Make copy and prompts easy to update so the concept evolves without redesigning slides.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7973568" y="4069080"/>
            <a:ext cx="1325880" cy="1325880"/>
          </a:xfrm>
          <a:prstGeom prst="roundRect">
            <a:avLst>
              <a:gd name="adj" fmla="val 5517"/>
            </a:avLst>
          </a:prstGeom>
          <a:solidFill>
            <a:srgbClr val="F8FBFF"/>
          </a:solidFill>
          <a:ln w="12700">
            <a:solidFill>
              <a:srgbClr val="00C4C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174736" y="4215384"/>
            <a:ext cx="8229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C4C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[Image]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8887968" y="4215384"/>
            <a:ext cx="210312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31558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Missing image placeholder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8174736" y="4471416"/>
            <a:ext cx="941832" cy="8503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45679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Slide 3 (concept) :: Premium SaaS illustration for Concept Direction slide. Animated chatbot context for Acme Client. Brand palette #0B1F4D, #00C4CC, #7D2AE8. No text overlays.</a:t>
            </a:r>
            <a:endParaRPr lang="en-US" sz="800" dirty="0"/>
          </a:p>
        </p:txBody>
      </p:sp>
      <p:sp>
        <p:nvSpPr>
          <p:cNvPr id="18" name="Shape 16"/>
          <p:cNvSpPr/>
          <p:nvPr/>
        </p:nvSpPr>
        <p:spPr>
          <a:xfrm>
            <a:off x="0" y="6419088"/>
            <a:ext cx="12191695" cy="438912"/>
          </a:xfrm>
          <a:prstGeom prst="rect">
            <a:avLst/>
          </a:prstGeom>
          <a:solidFill>
            <a:srgbClr val="0B1F4D"/>
          </a:solidFill>
          <a:ln w="12700">
            <a:solidFill>
              <a:srgbClr val="0B1F4D">
                <a:alpha val="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02920" y="6547104"/>
            <a:ext cx="50292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Notso AI  |  v1.0</a:t>
            </a:r>
            <a:endParaRPr lang="en-US" sz="800" dirty="0"/>
          </a:p>
        </p:txBody>
      </p:sp>
      <p:sp>
        <p:nvSpPr>
          <p:cNvPr id="20" name="Text 18"/>
          <p:cNvSpPr/>
          <p:nvPr/>
        </p:nvSpPr>
        <p:spPr>
          <a:xfrm>
            <a:off x="10789920" y="6547104"/>
            <a:ext cx="9144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 / 11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40080"/>
          </a:xfrm>
          <a:prstGeom prst="rect">
            <a:avLst/>
          </a:prstGeom>
          <a:solidFill>
            <a:srgbClr val="F6F8FB"/>
          </a:solidFill>
          <a:ln w="12700">
            <a:solidFill>
              <a:srgbClr val="F6F8FB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48640" y="658368"/>
            <a:ext cx="10972800" cy="0"/>
          </a:xfrm>
          <a:prstGeom prst="line">
            <a:avLst/>
          </a:prstGeom>
          <a:noFill/>
          <a:ln w="12700">
            <a:solidFill>
              <a:srgbClr val="D7E3F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94360" y="868680"/>
            <a:ext cx="7132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4213D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Experience Design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594360" y="1261872"/>
            <a:ext cx="77724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B5A7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How the assistant should look and feel.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8321040" y="896112"/>
            <a:ext cx="3383280" cy="502920"/>
          </a:xfrm>
          <a:prstGeom prst="roundRect">
            <a:avLst>
              <a:gd name="adj" fmla="val 14545"/>
            </a:avLst>
          </a:prstGeom>
          <a:solidFill>
            <a:srgbClr val="E9F8FA"/>
          </a:solidFill>
          <a:ln w="12700">
            <a:solidFill>
              <a:srgbClr val="C2F0F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467344" y="1042416"/>
            <a:ext cx="3063240" cy="23774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0F3A5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Purpose: Translate brand into interface and motion.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822960" y="1783080"/>
            <a:ext cx="2578608" cy="2377440"/>
          </a:xfrm>
          <a:prstGeom prst="roundRect">
            <a:avLst>
              <a:gd name="adj" fmla="val 3077"/>
            </a:avLst>
          </a:prstGeom>
          <a:solidFill>
            <a:srgbClr val="F8FBFF"/>
          </a:solidFill>
          <a:ln w="12700">
            <a:solidFill>
              <a:srgbClr val="D8E2F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005840" y="1993392"/>
            <a:ext cx="384048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A406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01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1005840" y="2267712"/>
            <a:ext cx="2194560" cy="17373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405B8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Design language combines high-contrast readability with calm, premium motion.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611880" y="1783080"/>
            <a:ext cx="2578608" cy="2377440"/>
          </a:xfrm>
          <a:prstGeom prst="roundRect">
            <a:avLst>
              <a:gd name="adj" fmla="val 3077"/>
            </a:avLst>
          </a:prstGeom>
          <a:solidFill>
            <a:srgbClr val="F8FBFF"/>
          </a:solidFill>
          <a:ln w="12700">
            <a:solidFill>
              <a:srgbClr val="D8E2F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794760" y="1993392"/>
            <a:ext cx="384048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A406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02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3794760" y="2267712"/>
            <a:ext cx="2194560" cy="17373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405B8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Primary interactions prioritize quick intent routing and obvious next actions.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400800" y="1783080"/>
            <a:ext cx="2578608" cy="2377440"/>
          </a:xfrm>
          <a:prstGeom prst="roundRect">
            <a:avLst>
              <a:gd name="adj" fmla="val 3077"/>
            </a:avLst>
          </a:prstGeom>
          <a:solidFill>
            <a:srgbClr val="F8FBFF"/>
          </a:solidFill>
          <a:ln w="12700">
            <a:solidFill>
              <a:srgbClr val="D8E2F5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583680" y="1993392"/>
            <a:ext cx="384048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A406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03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6583680" y="2267712"/>
            <a:ext cx="2194560" cy="17373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405B8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Component system supports future channels while preserving consistent UX behavior.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9189720" y="1783080"/>
            <a:ext cx="2578608" cy="2377440"/>
          </a:xfrm>
          <a:prstGeom prst="roundRect">
            <a:avLst>
              <a:gd name="adj" fmla="val 3077"/>
            </a:avLst>
          </a:prstGeom>
          <a:solidFill>
            <a:srgbClr val="F8FBFF"/>
          </a:solidFill>
          <a:ln w="12700">
            <a:solidFill>
              <a:srgbClr val="D8E2F5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9372600" y="1993392"/>
            <a:ext cx="384048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A406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04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9372600" y="2267712"/>
            <a:ext cx="2194560" cy="17373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405B8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Feature panel 4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822960" y="4343400"/>
            <a:ext cx="3794760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 w="12700">
            <a:solidFill>
              <a:srgbClr val="D7E1F4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060704" y="4590288"/>
            <a:ext cx="2926080" cy="2103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4213D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Visual Direction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1060704" y="4828032"/>
            <a:ext cx="3246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B6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Keep interface clean with calm motion and explicit next actions.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4846320" y="4343400"/>
            <a:ext cx="1869440" cy="1051560"/>
          </a:xfrm>
          <a:prstGeom prst="roundRect">
            <a:avLst>
              <a:gd name="adj" fmla="val 6957"/>
            </a:avLst>
          </a:prstGeom>
          <a:solidFill>
            <a:srgbClr val="F8FBFF"/>
          </a:solidFill>
          <a:ln w="12700">
            <a:solidFill>
              <a:srgbClr val="00C4CC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047488" y="4489704"/>
            <a:ext cx="8229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C4C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[Image]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5760720" y="4489704"/>
            <a:ext cx="753872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31558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Missing image placeholder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5047488" y="4745736"/>
            <a:ext cx="1485392" cy="57607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45679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Slide 4 (experience-design) :: Premium SaaS illustration for Experience Design slide. Animated chatbot context for Acme Client. Brand palette #0B1F4D, #00C4CC, #7D2AE8. No text overlays.</a:t>
            </a:r>
            <a:endParaRPr lang="en-US" sz="800" dirty="0"/>
          </a:p>
        </p:txBody>
      </p:sp>
      <p:sp>
        <p:nvSpPr>
          <p:cNvPr id="27" name="Shape 25"/>
          <p:cNvSpPr/>
          <p:nvPr/>
        </p:nvSpPr>
        <p:spPr>
          <a:xfrm>
            <a:off x="0" y="6419088"/>
            <a:ext cx="12191695" cy="438912"/>
          </a:xfrm>
          <a:prstGeom prst="rect">
            <a:avLst/>
          </a:prstGeom>
          <a:solidFill>
            <a:srgbClr val="0B1F4D"/>
          </a:solidFill>
          <a:ln w="12700">
            <a:solidFill>
              <a:srgbClr val="0B1F4D">
                <a:alpha val="0"/>
              </a:srgbClr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02920" y="6547104"/>
            <a:ext cx="50292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Notso AI  |  v1.0</a:t>
            </a:r>
            <a:endParaRPr lang="en-US" sz="800" dirty="0"/>
          </a:p>
        </p:txBody>
      </p:sp>
      <p:sp>
        <p:nvSpPr>
          <p:cNvPr id="29" name="Text 27"/>
          <p:cNvSpPr/>
          <p:nvPr/>
        </p:nvSpPr>
        <p:spPr>
          <a:xfrm>
            <a:off x="10789920" y="6547104"/>
            <a:ext cx="9144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 / 11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40080"/>
          </a:xfrm>
          <a:prstGeom prst="rect">
            <a:avLst/>
          </a:prstGeom>
          <a:solidFill>
            <a:srgbClr val="F6F8FB"/>
          </a:solidFill>
          <a:ln w="12700">
            <a:solidFill>
              <a:srgbClr val="F6F8FB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48640" y="658368"/>
            <a:ext cx="10972800" cy="0"/>
          </a:xfrm>
          <a:prstGeom prst="line">
            <a:avLst/>
          </a:prstGeom>
          <a:noFill/>
          <a:ln w="12700">
            <a:solidFill>
              <a:srgbClr val="D7E3F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94360" y="868680"/>
            <a:ext cx="7132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4213D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Conversation Design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594360" y="1261872"/>
            <a:ext cx="77724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B5A7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How users move through key chatbot journeys.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8321040" y="896112"/>
            <a:ext cx="3383280" cy="502920"/>
          </a:xfrm>
          <a:prstGeom prst="roundRect">
            <a:avLst>
              <a:gd name="adj" fmla="val 14545"/>
            </a:avLst>
          </a:prstGeom>
          <a:solidFill>
            <a:srgbClr val="E9F8FA"/>
          </a:solidFill>
          <a:ln w="12700">
            <a:solidFill>
              <a:srgbClr val="C2F0F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467344" y="1042416"/>
            <a:ext cx="3063240" cy="23774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0F3A5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Purpose: Show interaction logic and clarity.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822960" y="1783080"/>
            <a:ext cx="10469880" cy="201168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D8E2F4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234440" y="2542032"/>
            <a:ext cx="9601200" cy="0"/>
          </a:xfrm>
          <a:prstGeom prst="line">
            <a:avLst/>
          </a:prstGeom>
          <a:noFill/>
          <a:ln w="12700">
            <a:solidFill>
              <a:srgbClr val="BFD0EC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188720" y="2350008"/>
            <a:ext cx="384048" cy="384048"/>
          </a:xfrm>
          <a:prstGeom prst="ellipse">
            <a:avLst/>
          </a:prstGeom>
          <a:solidFill>
            <a:srgbClr val="0B1F4D"/>
          </a:solidFill>
          <a:ln w="12700">
            <a:solidFill>
              <a:srgbClr val="0B1F4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335024" y="2487168"/>
            <a:ext cx="91440" cy="91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</a:t>
            </a:r>
            <a:endParaRPr lang="en-US" sz="800" dirty="0"/>
          </a:p>
        </p:txBody>
      </p:sp>
      <p:sp>
        <p:nvSpPr>
          <p:cNvPr id="12" name="Shape 10"/>
          <p:cNvSpPr/>
          <p:nvPr/>
        </p:nvSpPr>
        <p:spPr>
          <a:xfrm>
            <a:off x="886968" y="2816352"/>
            <a:ext cx="1024128" cy="786384"/>
          </a:xfrm>
          <a:prstGeom prst="roundRect">
            <a:avLst>
              <a:gd name="adj" fmla="val 6977"/>
            </a:avLst>
          </a:prstGeom>
          <a:solidFill>
            <a:srgbClr val="F8FBFF"/>
          </a:solidFill>
          <a:ln w="12700">
            <a:solidFill>
              <a:srgbClr val="D5E0F2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60120" y="2907792"/>
            <a:ext cx="86868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35C8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Opening script establishes value in two exchanges and offers focused intent options.</a:t>
            </a:r>
            <a:endParaRPr lang="en-US" sz="800" dirty="0"/>
          </a:p>
        </p:txBody>
      </p:sp>
      <p:sp>
        <p:nvSpPr>
          <p:cNvPr id="14" name="Shape 12"/>
          <p:cNvSpPr/>
          <p:nvPr/>
        </p:nvSpPr>
        <p:spPr>
          <a:xfrm>
            <a:off x="5806440" y="2350008"/>
            <a:ext cx="384048" cy="384048"/>
          </a:xfrm>
          <a:prstGeom prst="ellipse">
            <a:avLst/>
          </a:prstGeom>
          <a:solidFill>
            <a:srgbClr val="0B1F4D"/>
          </a:solidFill>
          <a:ln w="12700">
            <a:solidFill>
              <a:srgbClr val="0B1F4D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952744" y="2487168"/>
            <a:ext cx="91440" cy="91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</a:t>
            </a:r>
            <a:endParaRPr lang="en-US" sz="800" dirty="0"/>
          </a:p>
        </p:txBody>
      </p:sp>
      <p:sp>
        <p:nvSpPr>
          <p:cNvPr id="16" name="Shape 14"/>
          <p:cNvSpPr/>
          <p:nvPr/>
        </p:nvSpPr>
        <p:spPr>
          <a:xfrm>
            <a:off x="5504688" y="2816352"/>
            <a:ext cx="1024128" cy="786384"/>
          </a:xfrm>
          <a:prstGeom prst="roundRect">
            <a:avLst>
              <a:gd name="adj" fmla="val 6977"/>
            </a:avLst>
          </a:prstGeom>
          <a:solidFill>
            <a:srgbClr val="F8FBFF"/>
          </a:solidFill>
          <a:ln w="12700">
            <a:solidFill>
              <a:srgbClr val="D5E0F2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577840" y="2907792"/>
            <a:ext cx="86868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35C8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Mid-flow logic handles FAQs, qualification, and objections with adaptive follow-ups.</a:t>
            </a:r>
            <a:endParaRPr lang="en-US" sz="800" dirty="0"/>
          </a:p>
        </p:txBody>
      </p:sp>
      <p:sp>
        <p:nvSpPr>
          <p:cNvPr id="18" name="Shape 16"/>
          <p:cNvSpPr/>
          <p:nvPr/>
        </p:nvSpPr>
        <p:spPr>
          <a:xfrm>
            <a:off x="10424160" y="2350008"/>
            <a:ext cx="384048" cy="384048"/>
          </a:xfrm>
          <a:prstGeom prst="ellipse">
            <a:avLst/>
          </a:prstGeom>
          <a:solidFill>
            <a:srgbClr val="0B1F4D"/>
          </a:solidFill>
          <a:ln w="12700">
            <a:solidFill>
              <a:srgbClr val="0B1F4D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0570464" y="2487168"/>
            <a:ext cx="91440" cy="91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</a:t>
            </a:r>
            <a:endParaRPr lang="en-US" sz="800" dirty="0"/>
          </a:p>
        </p:txBody>
      </p:sp>
      <p:sp>
        <p:nvSpPr>
          <p:cNvPr id="20" name="Shape 18"/>
          <p:cNvSpPr/>
          <p:nvPr/>
        </p:nvSpPr>
        <p:spPr>
          <a:xfrm>
            <a:off x="10122408" y="2816352"/>
            <a:ext cx="1024128" cy="786384"/>
          </a:xfrm>
          <a:prstGeom prst="roundRect">
            <a:avLst>
              <a:gd name="adj" fmla="val 6977"/>
            </a:avLst>
          </a:prstGeom>
          <a:solidFill>
            <a:srgbClr val="F8FBFF"/>
          </a:solidFill>
          <a:ln w="12700">
            <a:solidFill>
              <a:srgbClr val="D5E0F2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0195560" y="2907792"/>
            <a:ext cx="86868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35C8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Fallback logic escalates to human support with complete conversation context.</a:t>
            </a:r>
            <a:endParaRPr lang="en-US" sz="800" dirty="0"/>
          </a:p>
        </p:txBody>
      </p:sp>
      <p:sp>
        <p:nvSpPr>
          <p:cNvPr id="22" name="Shape 20"/>
          <p:cNvSpPr/>
          <p:nvPr/>
        </p:nvSpPr>
        <p:spPr>
          <a:xfrm>
            <a:off x="822960" y="4069080"/>
            <a:ext cx="3840480" cy="1325880"/>
          </a:xfrm>
          <a:prstGeom prst="roundRect">
            <a:avLst>
              <a:gd name="adj" fmla="val 5517"/>
            </a:avLst>
          </a:prstGeom>
          <a:solidFill>
            <a:srgbClr val="F8FBFF"/>
          </a:solidFill>
          <a:ln w="12700">
            <a:solidFill>
              <a:srgbClr val="D8E2F4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051560" y="4334256"/>
            <a:ext cx="29260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4213D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Conversation Goal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1051560" y="4590288"/>
            <a:ext cx="3383280" cy="6217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49628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Fast intent routing with clear handoff to human support when needed.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4892040" y="4069080"/>
            <a:ext cx="2357120" cy="1325880"/>
          </a:xfrm>
          <a:prstGeom prst="roundRect">
            <a:avLst>
              <a:gd name="adj" fmla="val 5517"/>
            </a:avLst>
          </a:prstGeom>
          <a:solidFill>
            <a:srgbClr val="F8FBFF"/>
          </a:solidFill>
          <a:ln w="12700">
            <a:solidFill>
              <a:srgbClr val="00C4CC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093208" y="4215384"/>
            <a:ext cx="8229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C4C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[Image]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5806440" y="4215384"/>
            <a:ext cx="1241552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31558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Missing image placeholder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5093208" y="4471416"/>
            <a:ext cx="1973072" cy="8503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45679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Slide 5 (conversation-design) :: Premium SaaS illustration for Conversation Design slide. Animated chatbot context for Acme Client. Brand palette #0B1F4D, #00C4CC, #7D2AE8. No text overlays.</a:t>
            </a:r>
            <a:endParaRPr lang="en-US" sz="800" dirty="0"/>
          </a:p>
        </p:txBody>
      </p:sp>
      <p:sp>
        <p:nvSpPr>
          <p:cNvPr id="29" name="Shape 27"/>
          <p:cNvSpPr/>
          <p:nvPr/>
        </p:nvSpPr>
        <p:spPr>
          <a:xfrm>
            <a:off x="0" y="6419088"/>
            <a:ext cx="12191695" cy="438912"/>
          </a:xfrm>
          <a:prstGeom prst="rect">
            <a:avLst/>
          </a:prstGeom>
          <a:solidFill>
            <a:srgbClr val="0B1F4D"/>
          </a:solidFill>
          <a:ln w="12700">
            <a:solidFill>
              <a:srgbClr val="0B1F4D">
                <a:alpha val="0"/>
              </a:srgbClr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02920" y="6547104"/>
            <a:ext cx="50292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Notso AI  |  v1.0</a:t>
            </a:r>
            <a:endParaRPr lang="en-US" sz="800" dirty="0"/>
          </a:p>
        </p:txBody>
      </p:sp>
      <p:sp>
        <p:nvSpPr>
          <p:cNvPr id="31" name="Text 29"/>
          <p:cNvSpPr/>
          <p:nvPr/>
        </p:nvSpPr>
        <p:spPr>
          <a:xfrm>
            <a:off x="10789920" y="6547104"/>
            <a:ext cx="9144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5 / 11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40080"/>
          </a:xfrm>
          <a:prstGeom prst="rect">
            <a:avLst/>
          </a:prstGeom>
          <a:solidFill>
            <a:srgbClr val="F6F8FB"/>
          </a:solidFill>
          <a:ln w="12700">
            <a:solidFill>
              <a:srgbClr val="F6F8FB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48640" y="658368"/>
            <a:ext cx="10972800" cy="0"/>
          </a:xfrm>
          <a:prstGeom prst="line">
            <a:avLst/>
          </a:prstGeom>
          <a:noFill/>
          <a:ln w="12700">
            <a:solidFill>
              <a:srgbClr val="D7E3F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94360" y="868680"/>
            <a:ext cx="7132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4213D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Solution Architecture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594360" y="1261872"/>
            <a:ext cx="77724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B5A7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Core system components and integrations.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8321040" y="896112"/>
            <a:ext cx="3383280" cy="502920"/>
          </a:xfrm>
          <a:prstGeom prst="roundRect">
            <a:avLst>
              <a:gd name="adj" fmla="val 14545"/>
            </a:avLst>
          </a:prstGeom>
          <a:solidFill>
            <a:srgbClr val="E9F8FA"/>
          </a:solidFill>
          <a:ln w="12700">
            <a:solidFill>
              <a:srgbClr val="C2F0F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467344" y="1042416"/>
            <a:ext cx="3063240" cy="23774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0F3A5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Purpose: Prove feasibility and operational ownership.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822960" y="1783080"/>
            <a:ext cx="6492240" cy="3611880"/>
          </a:xfrm>
          <a:prstGeom prst="roundRect">
            <a:avLst>
              <a:gd name="adj" fmla="val 2025"/>
            </a:avLst>
          </a:prstGeom>
          <a:solidFill>
            <a:srgbClr val="FFFFFF"/>
          </a:solidFill>
          <a:ln w="12700">
            <a:solidFill>
              <a:srgbClr val="D8E2F4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051560" y="2011680"/>
            <a:ext cx="25603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4213D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Layered Delivery Model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1051560" y="2359152"/>
            <a:ext cx="6035040" cy="786384"/>
          </a:xfrm>
          <a:prstGeom prst="roundRect">
            <a:avLst>
              <a:gd name="adj" fmla="val 6977"/>
            </a:avLst>
          </a:prstGeom>
          <a:solidFill>
            <a:srgbClr val="F4F8FF"/>
          </a:solidFill>
          <a:ln w="12700">
            <a:solidFill>
              <a:srgbClr val="D5E1F4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243584" y="2542032"/>
            <a:ext cx="310896" cy="310896"/>
          </a:xfrm>
          <a:prstGeom prst="ellipse">
            <a:avLst/>
          </a:prstGeom>
          <a:solidFill>
            <a:srgbClr val="0B1F4D"/>
          </a:solidFill>
          <a:ln w="12700">
            <a:solidFill>
              <a:srgbClr val="0B1F4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344168" y="2642616"/>
            <a:ext cx="91440" cy="91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L1</a:t>
            </a:r>
            <a:endParaRPr lang="en-US" sz="700" dirty="0"/>
          </a:p>
        </p:txBody>
      </p:sp>
      <p:sp>
        <p:nvSpPr>
          <p:cNvPr id="13" name="Text 11"/>
          <p:cNvSpPr/>
          <p:nvPr/>
        </p:nvSpPr>
        <p:spPr>
          <a:xfrm>
            <a:off x="1682496" y="2532888"/>
            <a:ext cx="5257800" cy="42062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415A8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Widget layer, orchestration layer, and analytics layer remain cleanly separated.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1051560" y="3328416"/>
            <a:ext cx="6035040" cy="786384"/>
          </a:xfrm>
          <a:prstGeom prst="roundRect">
            <a:avLst>
              <a:gd name="adj" fmla="val 6977"/>
            </a:avLst>
          </a:prstGeom>
          <a:solidFill>
            <a:srgbClr val="F8FBFF"/>
          </a:solidFill>
          <a:ln w="12700">
            <a:solidFill>
              <a:srgbClr val="D5E1F4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243584" y="3511296"/>
            <a:ext cx="310896" cy="310896"/>
          </a:xfrm>
          <a:prstGeom prst="ellipse">
            <a:avLst/>
          </a:prstGeom>
          <a:solidFill>
            <a:srgbClr val="0B1F4D"/>
          </a:solidFill>
          <a:ln w="12700">
            <a:solidFill>
              <a:srgbClr val="0B1F4D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344168" y="3611880"/>
            <a:ext cx="91440" cy="91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L2</a:t>
            </a:r>
            <a:endParaRPr lang="en-US" sz="700" dirty="0"/>
          </a:p>
        </p:txBody>
      </p:sp>
      <p:sp>
        <p:nvSpPr>
          <p:cNvPr id="17" name="Text 15"/>
          <p:cNvSpPr/>
          <p:nvPr/>
        </p:nvSpPr>
        <p:spPr>
          <a:xfrm>
            <a:off x="1682496" y="3502152"/>
            <a:ext cx="5257800" cy="42062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415A8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Prompt/content management can be updated by non-technical stakeholders.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1051560" y="4297680"/>
            <a:ext cx="6035040" cy="786384"/>
          </a:xfrm>
          <a:prstGeom prst="roundRect">
            <a:avLst>
              <a:gd name="adj" fmla="val 6977"/>
            </a:avLst>
          </a:prstGeom>
          <a:solidFill>
            <a:srgbClr val="F4F8FF"/>
          </a:solidFill>
          <a:ln w="12700">
            <a:solidFill>
              <a:srgbClr val="D5E1F4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243584" y="4480560"/>
            <a:ext cx="310896" cy="310896"/>
          </a:xfrm>
          <a:prstGeom prst="ellipse">
            <a:avLst/>
          </a:prstGeom>
          <a:solidFill>
            <a:srgbClr val="0B1F4D"/>
          </a:solidFill>
          <a:ln w="12700">
            <a:solidFill>
              <a:srgbClr val="0B1F4D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344168" y="4581144"/>
            <a:ext cx="91440" cy="91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L3</a:t>
            </a:r>
            <a:endParaRPr lang="en-US" sz="700" dirty="0"/>
          </a:p>
        </p:txBody>
      </p:sp>
      <p:sp>
        <p:nvSpPr>
          <p:cNvPr id="21" name="Text 19"/>
          <p:cNvSpPr/>
          <p:nvPr/>
        </p:nvSpPr>
        <p:spPr>
          <a:xfrm>
            <a:off x="1682496" y="4471416"/>
            <a:ext cx="5257800" cy="42062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415A8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Telemetry tracks intent usage, drop-offs, and conversion influence per flow.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7589520" y="1783080"/>
            <a:ext cx="3749040" cy="3611880"/>
          </a:xfrm>
          <a:prstGeom prst="roundRect">
            <a:avLst>
              <a:gd name="adj" fmla="val 2025"/>
            </a:avLst>
          </a:prstGeom>
          <a:solidFill>
            <a:srgbClr val="F8FBFF"/>
          </a:solidFill>
          <a:ln w="12700">
            <a:solidFill>
              <a:srgbClr val="D8E2F4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754112" y="2011680"/>
            <a:ext cx="3401568" cy="1737360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t"/>
          <a:lstStyle/>
          <a:p>
            <a:pPr marL="101600" indent="-101600">
              <a:buSzPct val="100000"/>
              <a:buChar char="•"/>
            </a:pPr>
            <a:r>
              <a:rPr lang="en-US" sz="1000" dirty="0">
                <a:solidFill>
                  <a:srgbClr val="415A8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Widget layer, orchestration layer, and analytics layer remain cleanly separated.</a:t>
            </a:r>
            <a:endParaRPr lang="en-US" sz="1000" dirty="0"/>
          </a:p>
          <a:p>
            <a:pPr marL="101600" indent="-101600">
              <a:buSzPct val="100000"/>
              <a:buChar char="•"/>
            </a:pPr>
            <a:r>
              <a:rPr lang="en-US" sz="1000" dirty="0">
                <a:solidFill>
                  <a:srgbClr val="415A8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Prompt/content management can be updated by non-technical stakeholders.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7772400" y="3886200"/>
            <a:ext cx="1767840" cy="1325880"/>
          </a:xfrm>
          <a:prstGeom prst="roundRect">
            <a:avLst>
              <a:gd name="adj" fmla="val 5517"/>
            </a:avLst>
          </a:prstGeom>
          <a:solidFill>
            <a:srgbClr val="F8FBFF"/>
          </a:solidFill>
          <a:ln w="12700">
            <a:solidFill>
              <a:srgbClr val="00C4CC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7973568" y="4032504"/>
            <a:ext cx="8229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C4C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[Image]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8686800" y="4032504"/>
            <a:ext cx="652272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31558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Missing image placeholder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7973568" y="4288536"/>
            <a:ext cx="1383792" cy="8503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45679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Slide 6 (architecture) :: Premium SaaS illustration for Solution Architecture slide. Animated chatbot context for Acme Client. Brand palette #0B1F4D, #00C4CC, #7D2AE8. No text overlays.</a:t>
            </a:r>
            <a:endParaRPr lang="en-US" sz="800" dirty="0"/>
          </a:p>
        </p:txBody>
      </p:sp>
      <p:sp>
        <p:nvSpPr>
          <p:cNvPr id="28" name="Shape 26"/>
          <p:cNvSpPr/>
          <p:nvPr/>
        </p:nvSpPr>
        <p:spPr>
          <a:xfrm>
            <a:off x="0" y="6419088"/>
            <a:ext cx="12191695" cy="438912"/>
          </a:xfrm>
          <a:prstGeom prst="rect">
            <a:avLst/>
          </a:prstGeom>
          <a:solidFill>
            <a:srgbClr val="0B1F4D"/>
          </a:solidFill>
          <a:ln w="12700">
            <a:solidFill>
              <a:srgbClr val="0B1F4D">
                <a:alpha val="0"/>
              </a:srgbClr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02920" y="6547104"/>
            <a:ext cx="50292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Notso AI  |  v1.0</a:t>
            </a:r>
            <a:endParaRPr lang="en-US" sz="800" dirty="0"/>
          </a:p>
        </p:txBody>
      </p:sp>
      <p:sp>
        <p:nvSpPr>
          <p:cNvPr id="30" name="Text 28"/>
          <p:cNvSpPr/>
          <p:nvPr/>
        </p:nvSpPr>
        <p:spPr>
          <a:xfrm>
            <a:off x="10789920" y="6547104"/>
            <a:ext cx="9144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6 / 11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40080"/>
          </a:xfrm>
          <a:prstGeom prst="rect">
            <a:avLst/>
          </a:prstGeom>
          <a:solidFill>
            <a:srgbClr val="F6F8FB"/>
          </a:solidFill>
          <a:ln w="12700">
            <a:solidFill>
              <a:srgbClr val="F6F8FB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48640" y="658368"/>
            <a:ext cx="10972800" cy="0"/>
          </a:xfrm>
          <a:prstGeom prst="line">
            <a:avLst/>
          </a:prstGeom>
          <a:noFill/>
          <a:ln w="12700">
            <a:solidFill>
              <a:srgbClr val="D7E3F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94360" y="868680"/>
            <a:ext cx="7132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4213D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Design Options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594360" y="1261872"/>
            <a:ext cx="77724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B5A7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Three visual directions for the chatbot.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8321040" y="896112"/>
            <a:ext cx="3383280" cy="502920"/>
          </a:xfrm>
          <a:prstGeom prst="roundRect">
            <a:avLst>
              <a:gd name="adj" fmla="val 14545"/>
            </a:avLst>
          </a:prstGeom>
          <a:solidFill>
            <a:srgbClr val="E9F8FA"/>
          </a:solidFill>
          <a:ln w="12700">
            <a:solidFill>
              <a:srgbClr val="C2F0F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467344" y="1042416"/>
            <a:ext cx="3063240" cy="23774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0F3A5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Purpose: Give clear style choices and trade-offs.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822960" y="1874520"/>
            <a:ext cx="3401568" cy="3822192"/>
          </a:xfrm>
          <a:prstGeom prst="roundRect">
            <a:avLst>
              <a:gd name="adj" fmla="val 2151"/>
            </a:avLst>
          </a:prstGeom>
          <a:solidFill>
            <a:srgbClr val="F8FAFF"/>
          </a:solidFill>
          <a:ln w="12700">
            <a:solidFill>
              <a:srgbClr val="D9E3FF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097280" y="2148840"/>
            <a:ext cx="2834640" cy="384048"/>
          </a:xfrm>
          <a:prstGeom prst="roundRect">
            <a:avLst>
              <a:gd name="adj" fmla="val 14286"/>
            </a:avLst>
          </a:prstGeom>
          <a:solidFill>
            <a:srgbClr val="00C4CC"/>
          </a:solidFill>
          <a:ln w="12700">
            <a:solidFill>
              <a:srgbClr val="00C4C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170432" y="2267712"/>
            <a:ext cx="265176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Option A - Brand Mascot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1115568" y="2697480"/>
            <a:ext cx="2834640" cy="2697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2D457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Friendly character-led interface with expressive motion cues.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4617720" y="1874520"/>
            <a:ext cx="3401568" cy="3822192"/>
          </a:xfrm>
          <a:prstGeom prst="roundRect">
            <a:avLst>
              <a:gd name="adj" fmla="val 2151"/>
            </a:avLst>
          </a:prstGeom>
          <a:solidFill>
            <a:srgbClr val="F8FAFF"/>
          </a:solidFill>
          <a:ln w="12700">
            <a:solidFill>
              <a:srgbClr val="D9E3FF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892040" y="2148840"/>
            <a:ext cx="2834640" cy="384048"/>
          </a:xfrm>
          <a:prstGeom prst="roundRect">
            <a:avLst>
              <a:gd name="adj" fmla="val 14286"/>
            </a:avLst>
          </a:prstGeom>
          <a:solidFill>
            <a:srgbClr val="7D2AE8"/>
          </a:solidFill>
          <a:ln w="12700">
            <a:solidFill>
              <a:srgbClr val="7D2AE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965192" y="2267712"/>
            <a:ext cx="265176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Option B - Premium Concierge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4910328" y="2697480"/>
            <a:ext cx="2834640" cy="2697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2D457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Elegant assistant aesthetic with restrained animation.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8412480" y="1874520"/>
            <a:ext cx="3401568" cy="3822192"/>
          </a:xfrm>
          <a:prstGeom prst="roundRect">
            <a:avLst>
              <a:gd name="adj" fmla="val 2151"/>
            </a:avLst>
          </a:prstGeom>
          <a:solidFill>
            <a:srgbClr val="F8FAFF"/>
          </a:solidFill>
          <a:ln w="12700">
            <a:solidFill>
              <a:srgbClr val="D9E3FF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686800" y="2148840"/>
            <a:ext cx="2834640" cy="384048"/>
          </a:xfrm>
          <a:prstGeom prst="roundRect">
            <a:avLst>
              <a:gd name="adj" fmla="val 14286"/>
            </a:avLst>
          </a:prstGeom>
          <a:solidFill>
            <a:srgbClr val="00C4CC"/>
          </a:solidFill>
          <a:ln w="12700">
            <a:solidFill>
              <a:srgbClr val="00C4CC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759952" y="2267712"/>
            <a:ext cx="265176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Option C - Product Specialist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8705088" y="2697480"/>
            <a:ext cx="2834640" cy="2697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2D457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Utility-first UI with rapid decision support.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8001000" y="4956048"/>
            <a:ext cx="1060704" cy="1060704"/>
          </a:xfrm>
          <a:prstGeom prst="roundRect">
            <a:avLst>
              <a:gd name="adj" fmla="val 6897"/>
            </a:avLst>
          </a:prstGeom>
          <a:solidFill>
            <a:srgbClr val="F8FBFF"/>
          </a:solidFill>
          <a:ln w="12700">
            <a:solidFill>
              <a:srgbClr val="00C4CC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202168" y="5102352"/>
            <a:ext cx="8229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C4C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[Image]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8915400" y="5102352"/>
            <a:ext cx="-54864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31558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Missing image placeholder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8202168" y="5358384"/>
            <a:ext cx="676656" cy="58521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45679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Slide 7 (design-options) :: Premium SaaS illustration for Design Options slide. Animated chatbot context for Acme Client. Brand palette #0B1F4D, #00C4CC, #7D2AE8. No text overlays.</a:t>
            </a:r>
            <a:endParaRPr lang="en-US" sz="800" dirty="0"/>
          </a:p>
        </p:txBody>
      </p:sp>
      <p:sp>
        <p:nvSpPr>
          <p:cNvPr id="24" name="Shape 22"/>
          <p:cNvSpPr/>
          <p:nvPr/>
        </p:nvSpPr>
        <p:spPr>
          <a:xfrm>
            <a:off x="0" y="6419088"/>
            <a:ext cx="12191695" cy="438912"/>
          </a:xfrm>
          <a:prstGeom prst="rect">
            <a:avLst/>
          </a:prstGeom>
          <a:solidFill>
            <a:srgbClr val="0B1F4D"/>
          </a:solidFill>
          <a:ln w="12700">
            <a:solidFill>
              <a:srgbClr val="0B1F4D">
                <a:alpha val="0"/>
              </a:srgbClr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02920" y="6547104"/>
            <a:ext cx="50292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Notso AI  |  v1.0</a:t>
            </a:r>
            <a:endParaRPr lang="en-US" sz="800" dirty="0"/>
          </a:p>
        </p:txBody>
      </p:sp>
      <p:sp>
        <p:nvSpPr>
          <p:cNvPr id="26" name="Text 24"/>
          <p:cNvSpPr/>
          <p:nvPr/>
        </p:nvSpPr>
        <p:spPr>
          <a:xfrm>
            <a:off x="10789920" y="6547104"/>
            <a:ext cx="9144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7 / 11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40080"/>
          </a:xfrm>
          <a:prstGeom prst="rect">
            <a:avLst/>
          </a:prstGeom>
          <a:solidFill>
            <a:srgbClr val="F6F8FB"/>
          </a:solidFill>
          <a:ln w="12700">
            <a:solidFill>
              <a:srgbClr val="F6F8FB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48640" y="658368"/>
            <a:ext cx="10972800" cy="0"/>
          </a:xfrm>
          <a:prstGeom prst="line">
            <a:avLst/>
          </a:prstGeom>
          <a:noFill/>
          <a:ln w="12700">
            <a:solidFill>
              <a:srgbClr val="D7E3F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94360" y="868680"/>
            <a:ext cx="7132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4213D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Implementation Timeline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594360" y="1261872"/>
            <a:ext cx="77724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B5A7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From kickoff to launch in clear phases.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8321040" y="896112"/>
            <a:ext cx="3383280" cy="502920"/>
          </a:xfrm>
          <a:prstGeom prst="roundRect">
            <a:avLst>
              <a:gd name="adj" fmla="val 14545"/>
            </a:avLst>
          </a:prstGeom>
          <a:solidFill>
            <a:srgbClr val="E9F8FA"/>
          </a:solidFill>
          <a:ln w="12700">
            <a:solidFill>
              <a:srgbClr val="C2F0F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467344" y="1042416"/>
            <a:ext cx="3063240" cy="23774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0F3A5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Purpose: Show pace, ownership, and milestones.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3280410" y="2304288"/>
            <a:ext cx="228600" cy="0"/>
          </a:xfrm>
          <a:prstGeom prst="line">
            <a:avLst/>
          </a:prstGeom>
          <a:noFill/>
          <a:ln w="12700">
            <a:solidFill>
              <a:srgbClr val="A8BFEA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932813" y="2121408"/>
            <a:ext cx="237744" cy="237744"/>
          </a:xfrm>
          <a:prstGeom prst="ellipse">
            <a:avLst/>
          </a:prstGeom>
          <a:solidFill>
            <a:srgbClr val="00C4CC"/>
          </a:solidFill>
          <a:ln w="12700">
            <a:solidFill>
              <a:srgbClr val="00C4CC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22960" y="2468880"/>
            <a:ext cx="2457450" cy="3063240"/>
          </a:xfrm>
          <a:prstGeom prst="roundRect">
            <a:avLst>
              <a:gd name="adj" fmla="val 2977"/>
            </a:avLst>
          </a:prstGeom>
          <a:solidFill>
            <a:srgbClr val="F8FAFF"/>
          </a:solidFill>
          <a:ln w="12700">
            <a:solidFill>
              <a:srgbClr val="D8E3F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005840" y="2743200"/>
            <a:ext cx="213741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14213D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Week 1-2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1005840" y="3246120"/>
            <a:ext cx="2137410" cy="20574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3D568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Discovery, baseline metrics, and outcome framing.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5966460" y="2304288"/>
            <a:ext cx="228600" cy="0"/>
          </a:xfrm>
          <a:prstGeom prst="line">
            <a:avLst/>
          </a:prstGeom>
          <a:noFill/>
          <a:ln w="12700">
            <a:solidFill>
              <a:srgbClr val="A8BFEA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618863" y="2121408"/>
            <a:ext cx="237744" cy="237744"/>
          </a:xfrm>
          <a:prstGeom prst="ellipse">
            <a:avLst/>
          </a:prstGeom>
          <a:solidFill>
            <a:srgbClr val="00C4CC"/>
          </a:solidFill>
          <a:ln w="12700">
            <a:solidFill>
              <a:srgbClr val="00C4CC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509010" y="2468880"/>
            <a:ext cx="2457450" cy="3063240"/>
          </a:xfrm>
          <a:prstGeom prst="roundRect">
            <a:avLst>
              <a:gd name="adj" fmla="val 2977"/>
            </a:avLst>
          </a:prstGeom>
          <a:solidFill>
            <a:srgbClr val="F4F7FF"/>
          </a:solidFill>
          <a:ln w="12700">
            <a:solidFill>
              <a:srgbClr val="D8E3F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691890" y="2743200"/>
            <a:ext cx="213741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14213D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Week 3-4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3691890" y="3246120"/>
            <a:ext cx="2137410" cy="20574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3D568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Concept storyboard, visual direction, and scripted prototype.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8652510" y="2304288"/>
            <a:ext cx="228600" cy="0"/>
          </a:xfrm>
          <a:prstGeom prst="line">
            <a:avLst/>
          </a:prstGeom>
          <a:noFill/>
          <a:ln w="12700">
            <a:solidFill>
              <a:srgbClr val="A8BFEA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7304913" y="2121408"/>
            <a:ext cx="237744" cy="237744"/>
          </a:xfrm>
          <a:prstGeom prst="ellipse">
            <a:avLst/>
          </a:prstGeom>
          <a:solidFill>
            <a:srgbClr val="00C4CC"/>
          </a:solidFill>
          <a:ln w="12700">
            <a:solidFill>
              <a:srgbClr val="00C4CC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195060" y="2468880"/>
            <a:ext cx="2457450" cy="3063240"/>
          </a:xfrm>
          <a:prstGeom prst="roundRect">
            <a:avLst>
              <a:gd name="adj" fmla="val 2977"/>
            </a:avLst>
          </a:prstGeom>
          <a:solidFill>
            <a:srgbClr val="F8FAFF"/>
          </a:solidFill>
          <a:ln w="12700">
            <a:solidFill>
              <a:srgbClr val="D8E3F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377940" y="2743200"/>
            <a:ext cx="213741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14213D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Week 5-6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6377940" y="3246120"/>
            <a:ext cx="2137410" cy="20574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3D568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Production implementation, integration, and QA.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9990963" y="2121408"/>
            <a:ext cx="237744" cy="237744"/>
          </a:xfrm>
          <a:prstGeom prst="ellipse">
            <a:avLst/>
          </a:prstGeom>
          <a:solidFill>
            <a:srgbClr val="00C4CC"/>
          </a:solidFill>
          <a:ln w="12700">
            <a:solidFill>
              <a:srgbClr val="00C4CC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8881110" y="2468880"/>
            <a:ext cx="2457450" cy="3063240"/>
          </a:xfrm>
          <a:prstGeom prst="roundRect">
            <a:avLst>
              <a:gd name="adj" fmla="val 2977"/>
            </a:avLst>
          </a:prstGeom>
          <a:solidFill>
            <a:srgbClr val="F4F7FF"/>
          </a:solidFill>
          <a:ln w="12700">
            <a:solidFill>
              <a:srgbClr val="D8E3F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9063990" y="2743200"/>
            <a:ext cx="213741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14213D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Week 7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9063990" y="3246120"/>
            <a:ext cx="2137410" cy="20574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3D568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Launch preparation, enablement, and optimization backlog.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7909560" y="4956048"/>
            <a:ext cx="1885696" cy="1060704"/>
          </a:xfrm>
          <a:prstGeom prst="roundRect">
            <a:avLst>
              <a:gd name="adj" fmla="val 6897"/>
            </a:avLst>
          </a:prstGeom>
          <a:solidFill>
            <a:srgbClr val="F8FBFF"/>
          </a:solidFill>
          <a:ln w="12700">
            <a:solidFill>
              <a:srgbClr val="00C4CC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8110728" y="5102352"/>
            <a:ext cx="8229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C4C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[Image]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8823960" y="5102352"/>
            <a:ext cx="770128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31558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Missing image placeholder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8110728" y="5358384"/>
            <a:ext cx="1501648" cy="58521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45679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Slide 8 (timeline) :: Premium SaaS illustration for Implementation Timeline slide. Animated chatbot context for Acme Client. Brand palette #0B1F4D, #00C4CC, #7D2AE8. No text overlays.</a:t>
            </a:r>
            <a:endParaRPr lang="en-US" sz="800" dirty="0"/>
          </a:p>
        </p:txBody>
      </p:sp>
      <p:sp>
        <p:nvSpPr>
          <p:cNvPr id="31" name="Shape 29"/>
          <p:cNvSpPr/>
          <p:nvPr/>
        </p:nvSpPr>
        <p:spPr>
          <a:xfrm>
            <a:off x="0" y="6419088"/>
            <a:ext cx="12191695" cy="438912"/>
          </a:xfrm>
          <a:prstGeom prst="rect">
            <a:avLst/>
          </a:prstGeom>
          <a:solidFill>
            <a:srgbClr val="0B1F4D"/>
          </a:solidFill>
          <a:ln w="12700">
            <a:solidFill>
              <a:srgbClr val="0B1F4D">
                <a:alpha val="0"/>
              </a:srgbClr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02920" y="6547104"/>
            <a:ext cx="50292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Notso AI  |  v1.0</a:t>
            </a:r>
            <a:endParaRPr lang="en-US" sz="800" dirty="0"/>
          </a:p>
        </p:txBody>
      </p:sp>
      <p:sp>
        <p:nvSpPr>
          <p:cNvPr id="33" name="Text 31"/>
          <p:cNvSpPr/>
          <p:nvPr/>
        </p:nvSpPr>
        <p:spPr>
          <a:xfrm>
            <a:off x="10789920" y="6547104"/>
            <a:ext cx="9144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8 / 11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40080"/>
          </a:xfrm>
          <a:prstGeom prst="rect">
            <a:avLst/>
          </a:prstGeom>
          <a:solidFill>
            <a:srgbClr val="F6F8FB"/>
          </a:solidFill>
          <a:ln w="12700">
            <a:solidFill>
              <a:srgbClr val="F6F8FB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48640" y="658368"/>
            <a:ext cx="10972800" cy="0"/>
          </a:xfrm>
          <a:prstGeom prst="line">
            <a:avLst/>
          </a:prstGeom>
          <a:noFill/>
          <a:ln w="12700">
            <a:solidFill>
              <a:srgbClr val="D7E3F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94360" y="868680"/>
            <a:ext cx="7132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4213D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Pricing Options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594360" y="1261872"/>
            <a:ext cx="77724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B5A7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Flexible packages based on scope and velocity.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8321040" y="896112"/>
            <a:ext cx="3383280" cy="502920"/>
          </a:xfrm>
          <a:prstGeom prst="roundRect">
            <a:avLst>
              <a:gd name="adj" fmla="val 14545"/>
            </a:avLst>
          </a:prstGeom>
          <a:solidFill>
            <a:srgbClr val="E9F8FA"/>
          </a:solidFill>
          <a:ln w="12700">
            <a:solidFill>
              <a:srgbClr val="C2F0F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467344" y="1042416"/>
            <a:ext cx="3063240" cy="23774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0F3A5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Purpose: Make commercial decisions easier.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868680" y="1783080"/>
            <a:ext cx="3401568" cy="3931920"/>
          </a:xfrm>
          <a:prstGeom prst="roundRect">
            <a:avLst>
              <a:gd name="adj" fmla="val 2151"/>
            </a:avLst>
          </a:prstGeom>
          <a:solidFill>
            <a:srgbClr val="F8FAFF"/>
          </a:solidFill>
          <a:ln w="12700">
            <a:solidFill>
              <a:srgbClr val="D7E2F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097280" y="2057400"/>
            <a:ext cx="2926080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14213D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Starter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097280" y="2606040"/>
            <a:ext cx="29260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7D2AE8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EUR 8.500</a:t>
            </a:r>
            <a:endParaRPr lang="en-US" sz="2000" dirty="0"/>
          </a:p>
        </p:txBody>
      </p:sp>
      <p:sp>
        <p:nvSpPr>
          <p:cNvPr id="11" name="Shape 9"/>
          <p:cNvSpPr/>
          <p:nvPr/>
        </p:nvSpPr>
        <p:spPr>
          <a:xfrm>
            <a:off x="1097280" y="3081528"/>
            <a:ext cx="2834640" cy="0"/>
          </a:xfrm>
          <a:prstGeom prst="line">
            <a:avLst/>
          </a:prstGeom>
          <a:noFill/>
          <a:ln w="12700">
            <a:solidFill>
              <a:srgbClr val="D4DEF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097280" y="3246120"/>
            <a:ext cx="2926080" cy="21945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37507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Core assistant experience, 3 user flows, launch setup.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663440" y="1783080"/>
            <a:ext cx="3401568" cy="3931920"/>
          </a:xfrm>
          <a:prstGeom prst="roundRect">
            <a:avLst>
              <a:gd name="adj" fmla="val 2151"/>
            </a:avLst>
          </a:prstGeom>
          <a:solidFill>
            <a:srgbClr val="EEF8FF"/>
          </a:solidFill>
          <a:ln w="12700">
            <a:solidFill>
              <a:srgbClr val="00C4C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892040" y="2057400"/>
            <a:ext cx="2926080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14213D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Growth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4892040" y="2606040"/>
            <a:ext cx="29260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7D2AE8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EUR 14.500</a:t>
            </a:r>
            <a:endParaRPr lang="en-US" sz="2000" dirty="0"/>
          </a:p>
        </p:txBody>
      </p:sp>
      <p:sp>
        <p:nvSpPr>
          <p:cNvPr id="16" name="Shape 14"/>
          <p:cNvSpPr/>
          <p:nvPr/>
        </p:nvSpPr>
        <p:spPr>
          <a:xfrm>
            <a:off x="4892040" y="3081528"/>
            <a:ext cx="2834640" cy="0"/>
          </a:xfrm>
          <a:prstGeom prst="line">
            <a:avLst/>
          </a:prstGeom>
          <a:noFill/>
          <a:ln w="12700">
            <a:solidFill>
              <a:srgbClr val="D4DEF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892040" y="3246120"/>
            <a:ext cx="2926080" cy="21945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37507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Expanded flows, richer animation system, analytics dashboard.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8458200" y="1783080"/>
            <a:ext cx="3401568" cy="3931920"/>
          </a:xfrm>
          <a:prstGeom prst="roundRect">
            <a:avLst>
              <a:gd name="adj" fmla="val 2151"/>
            </a:avLst>
          </a:prstGeom>
          <a:solidFill>
            <a:srgbClr val="F8FAFF"/>
          </a:solidFill>
          <a:ln w="12700">
            <a:solidFill>
              <a:srgbClr val="D7E2F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686800" y="2057400"/>
            <a:ext cx="2926080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14213D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Scale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8686800" y="2606040"/>
            <a:ext cx="29260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7D2AE8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EUR 22.000</a:t>
            </a:r>
            <a:endParaRPr lang="en-US" sz="2000" dirty="0"/>
          </a:p>
        </p:txBody>
      </p:sp>
      <p:sp>
        <p:nvSpPr>
          <p:cNvPr id="21" name="Shape 19"/>
          <p:cNvSpPr/>
          <p:nvPr/>
        </p:nvSpPr>
        <p:spPr>
          <a:xfrm>
            <a:off x="8686800" y="3081528"/>
            <a:ext cx="2834640" cy="0"/>
          </a:xfrm>
          <a:prstGeom prst="line">
            <a:avLst/>
          </a:prstGeom>
          <a:noFill/>
          <a:ln w="12700">
            <a:solidFill>
              <a:srgbClr val="D4DEF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686800" y="3246120"/>
            <a:ext cx="2926080" cy="21945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37507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Multi-language rollout, CRM integrations, optimization loop.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7909560" y="4937760"/>
            <a:ext cx="1463040" cy="1097280"/>
          </a:xfrm>
          <a:prstGeom prst="roundRect">
            <a:avLst>
              <a:gd name="adj" fmla="val 6667"/>
            </a:avLst>
          </a:prstGeom>
          <a:solidFill>
            <a:srgbClr val="F8FBFF"/>
          </a:solidFill>
          <a:ln w="12700">
            <a:solidFill>
              <a:srgbClr val="00C4CC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8110728" y="5084064"/>
            <a:ext cx="8229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C4C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[Image]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8823960" y="5084064"/>
            <a:ext cx="347472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31558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Missing image placeholder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8110728" y="5340096"/>
            <a:ext cx="1078992" cy="6217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45679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Slide 9 (pricing) :: Premium SaaS illustration for Pricing Options slide. Animated chatbot context for Acme Client. Brand palette #0B1F4D, #00C4CC, #7D2AE8. No text overlays.</a:t>
            </a:r>
            <a:endParaRPr lang="en-US" sz="800" dirty="0"/>
          </a:p>
        </p:txBody>
      </p:sp>
      <p:sp>
        <p:nvSpPr>
          <p:cNvPr id="27" name="Shape 25"/>
          <p:cNvSpPr/>
          <p:nvPr/>
        </p:nvSpPr>
        <p:spPr>
          <a:xfrm>
            <a:off x="0" y="6419088"/>
            <a:ext cx="12191695" cy="438912"/>
          </a:xfrm>
          <a:prstGeom prst="rect">
            <a:avLst/>
          </a:prstGeom>
          <a:solidFill>
            <a:srgbClr val="0B1F4D"/>
          </a:solidFill>
          <a:ln w="12700">
            <a:solidFill>
              <a:srgbClr val="0B1F4D">
                <a:alpha val="0"/>
              </a:srgbClr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02920" y="6547104"/>
            <a:ext cx="50292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Notso AI  |  v1.0</a:t>
            </a:r>
            <a:endParaRPr lang="en-US" sz="800" dirty="0"/>
          </a:p>
        </p:txBody>
      </p:sp>
      <p:sp>
        <p:nvSpPr>
          <p:cNvPr id="29" name="Text 27"/>
          <p:cNvSpPr/>
          <p:nvPr/>
        </p:nvSpPr>
        <p:spPr>
          <a:xfrm>
            <a:off x="10789920" y="6547104"/>
            <a:ext cx="9144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9 / 11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40080"/>
          </a:xfrm>
          <a:prstGeom prst="rect">
            <a:avLst/>
          </a:prstGeom>
          <a:solidFill>
            <a:srgbClr val="F6F8FB"/>
          </a:solidFill>
          <a:ln w="12700">
            <a:solidFill>
              <a:srgbClr val="F6F8FB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48640" y="658368"/>
            <a:ext cx="10972800" cy="0"/>
          </a:xfrm>
          <a:prstGeom prst="line">
            <a:avLst/>
          </a:prstGeom>
          <a:noFill/>
          <a:ln w="12700">
            <a:solidFill>
              <a:srgbClr val="D7E3F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94360" y="868680"/>
            <a:ext cx="7132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4213D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Team &amp; Responsibilities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594360" y="1261872"/>
            <a:ext cx="77724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B5A7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Who does what across delivery.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8321040" y="896112"/>
            <a:ext cx="3383280" cy="502920"/>
          </a:xfrm>
          <a:prstGeom prst="roundRect">
            <a:avLst>
              <a:gd name="adj" fmla="val 14545"/>
            </a:avLst>
          </a:prstGeom>
          <a:solidFill>
            <a:srgbClr val="E9F8FA"/>
          </a:solidFill>
          <a:ln w="12700">
            <a:solidFill>
              <a:srgbClr val="C2F0F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467344" y="1042416"/>
            <a:ext cx="3063240" cy="23774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0F3A5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Purpose: Build trust in execution capability.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868680" y="1783080"/>
            <a:ext cx="5074920" cy="1234440"/>
          </a:xfrm>
          <a:prstGeom prst="roundRect">
            <a:avLst>
              <a:gd name="adj" fmla="val 5926"/>
            </a:avLst>
          </a:prstGeom>
          <a:solidFill>
            <a:srgbClr val="F7FAFF"/>
          </a:solidFill>
          <a:ln w="12700">
            <a:solidFill>
              <a:srgbClr val="D7E3FF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124712" y="2139696"/>
            <a:ext cx="320040" cy="320040"/>
          </a:xfrm>
          <a:prstGeom prst="ellipse">
            <a:avLst/>
          </a:prstGeom>
          <a:solidFill>
            <a:srgbClr val="00C4CC"/>
          </a:solidFill>
          <a:ln w="12700">
            <a:solidFill>
              <a:srgbClr val="00C4C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600200" y="2057400"/>
            <a:ext cx="420624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14213D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Strategy Lead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1600200" y="2404872"/>
            <a:ext cx="420624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3C558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Owns problem framing, priorities, and decision velocity.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6446520" y="1783080"/>
            <a:ext cx="5074920" cy="1234440"/>
          </a:xfrm>
          <a:prstGeom prst="roundRect">
            <a:avLst>
              <a:gd name="adj" fmla="val 5926"/>
            </a:avLst>
          </a:prstGeom>
          <a:solidFill>
            <a:srgbClr val="F7FAFF"/>
          </a:solidFill>
          <a:ln w="12700">
            <a:solidFill>
              <a:srgbClr val="D7E3FF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702552" y="2139696"/>
            <a:ext cx="320040" cy="320040"/>
          </a:xfrm>
          <a:prstGeom prst="ellipse">
            <a:avLst/>
          </a:prstGeom>
          <a:solidFill>
            <a:srgbClr val="00C4CC"/>
          </a:solidFill>
          <a:ln w="12700">
            <a:solidFill>
              <a:srgbClr val="00C4C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178040" y="2057400"/>
            <a:ext cx="420624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14213D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Conversation Designer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7178040" y="2404872"/>
            <a:ext cx="420624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3C558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Designs scripts, guardrails, and fallback behavior.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868680" y="3291840"/>
            <a:ext cx="5074920" cy="1234440"/>
          </a:xfrm>
          <a:prstGeom prst="roundRect">
            <a:avLst>
              <a:gd name="adj" fmla="val 5926"/>
            </a:avLst>
          </a:prstGeom>
          <a:solidFill>
            <a:srgbClr val="F7FAFF"/>
          </a:solidFill>
          <a:ln w="12700">
            <a:solidFill>
              <a:srgbClr val="D7E3FF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124712" y="3648456"/>
            <a:ext cx="320040" cy="320040"/>
          </a:xfrm>
          <a:prstGeom prst="ellipse">
            <a:avLst/>
          </a:prstGeom>
          <a:solidFill>
            <a:srgbClr val="00C4CC"/>
          </a:solidFill>
          <a:ln w="12700">
            <a:solidFill>
              <a:srgbClr val="00C4CC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600200" y="3566160"/>
            <a:ext cx="420624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14213D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Motion/UI Designer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1600200" y="3913632"/>
            <a:ext cx="420624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3C558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Crafts visual identity and animated interaction language.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6446520" y="3291840"/>
            <a:ext cx="5074920" cy="1234440"/>
          </a:xfrm>
          <a:prstGeom prst="roundRect">
            <a:avLst>
              <a:gd name="adj" fmla="val 5926"/>
            </a:avLst>
          </a:prstGeom>
          <a:solidFill>
            <a:srgbClr val="F7FAFF"/>
          </a:solidFill>
          <a:ln w="12700">
            <a:solidFill>
              <a:srgbClr val="D7E3FF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702552" y="3648456"/>
            <a:ext cx="320040" cy="320040"/>
          </a:xfrm>
          <a:prstGeom prst="ellipse">
            <a:avLst/>
          </a:prstGeom>
          <a:solidFill>
            <a:srgbClr val="00C4CC"/>
          </a:solidFill>
          <a:ln w="12700">
            <a:solidFill>
              <a:srgbClr val="00C4CC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178040" y="3566160"/>
            <a:ext cx="420624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14213D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Implementation Engineer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7178040" y="3913632"/>
            <a:ext cx="420624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3C558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Delivers integration, release hardening, and monitoring.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7909560" y="4983480"/>
            <a:ext cx="1051560" cy="1051560"/>
          </a:xfrm>
          <a:prstGeom prst="roundRect">
            <a:avLst>
              <a:gd name="adj" fmla="val 6957"/>
            </a:avLst>
          </a:prstGeom>
          <a:solidFill>
            <a:srgbClr val="F8FBFF"/>
          </a:solidFill>
          <a:ln w="12700">
            <a:solidFill>
              <a:srgbClr val="00C4CC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8110728" y="5129784"/>
            <a:ext cx="8229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C4C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[Image]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8823960" y="5129784"/>
            <a:ext cx="-64008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31558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Missing image placeholder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8110728" y="5385816"/>
            <a:ext cx="667512" cy="57607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45679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Slide 10 (team) :: Premium SaaS illustration for Team &amp; Responsibilities slide. Animated chatbot context for Acme Client. Brand palette #0B1F4D, #00C4CC, #7D2AE8. No text overlays.</a:t>
            </a:r>
            <a:endParaRPr lang="en-US" sz="800" dirty="0"/>
          </a:p>
        </p:txBody>
      </p:sp>
      <p:sp>
        <p:nvSpPr>
          <p:cNvPr id="28" name="Shape 26"/>
          <p:cNvSpPr/>
          <p:nvPr/>
        </p:nvSpPr>
        <p:spPr>
          <a:xfrm>
            <a:off x="0" y="6419088"/>
            <a:ext cx="12191695" cy="438912"/>
          </a:xfrm>
          <a:prstGeom prst="rect">
            <a:avLst/>
          </a:prstGeom>
          <a:solidFill>
            <a:srgbClr val="0B1F4D"/>
          </a:solidFill>
          <a:ln w="12700">
            <a:solidFill>
              <a:srgbClr val="0B1F4D">
                <a:alpha val="0"/>
              </a:srgbClr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02920" y="6547104"/>
            <a:ext cx="50292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Notso AI  |  v1.0</a:t>
            </a:r>
            <a:endParaRPr lang="en-US" sz="800" dirty="0"/>
          </a:p>
        </p:txBody>
      </p:sp>
      <p:sp>
        <p:nvSpPr>
          <p:cNvPr id="30" name="Text 28"/>
          <p:cNvSpPr/>
          <p:nvPr/>
        </p:nvSpPr>
        <p:spPr>
          <a:xfrm>
            <a:off x="10789920" y="6547104"/>
            <a:ext cx="9144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10 / 11</a:t>
            </a:r>
            <a:endParaRPr lang="en-US" sz="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6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40080"/>
          </a:xfrm>
          <a:prstGeom prst="rect">
            <a:avLst/>
          </a:prstGeom>
          <a:solidFill>
            <a:srgbClr val="F6F8FB"/>
          </a:solidFill>
          <a:ln w="12700">
            <a:solidFill>
              <a:srgbClr val="F6F8FB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48640" y="658368"/>
            <a:ext cx="10972800" cy="0"/>
          </a:xfrm>
          <a:prstGeom prst="line">
            <a:avLst/>
          </a:prstGeom>
          <a:noFill/>
          <a:ln w="12700">
            <a:solidFill>
              <a:srgbClr val="D7E3F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94360" y="868680"/>
            <a:ext cx="7132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4213D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Next Steps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594360" y="1261872"/>
            <a:ext cx="77724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B5A7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Decision points and kickoff actions.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8321040" y="896112"/>
            <a:ext cx="3383280" cy="502920"/>
          </a:xfrm>
          <a:prstGeom prst="roundRect">
            <a:avLst>
              <a:gd name="adj" fmla="val 14545"/>
            </a:avLst>
          </a:prstGeom>
          <a:solidFill>
            <a:srgbClr val="E9F8FA"/>
          </a:solidFill>
          <a:ln w="12700">
            <a:solidFill>
              <a:srgbClr val="C2F0F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467344" y="1042416"/>
            <a:ext cx="3063240" cy="23774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0F3A5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Purpose: Convert alignment into action.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868680" y="1783080"/>
            <a:ext cx="6583680" cy="804672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D8E3FF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051560" y="1929384"/>
            <a:ext cx="502920" cy="502920"/>
          </a:xfrm>
          <a:prstGeom prst="roundRect">
            <a:avLst>
              <a:gd name="adj" fmla="val 14545"/>
            </a:avLst>
          </a:prstGeom>
          <a:solidFill>
            <a:srgbClr val="00C4CC"/>
          </a:solidFill>
          <a:ln w="12700">
            <a:solidFill>
              <a:srgbClr val="00C4C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225296" y="2084832"/>
            <a:ext cx="164592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1737360" y="2011680"/>
            <a:ext cx="5577840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14213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Confirm direction, package, and decision stakeholders.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868680" y="2770632"/>
            <a:ext cx="6583680" cy="804672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D8E3FF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051560" y="2916936"/>
            <a:ext cx="502920" cy="502920"/>
          </a:xfrm>
          <a:prstGeom prst="roundRect">
            <a:avLst>
              <a:gd name="adj" fmla="val 14545"/>
            </a:avLst>
          </a:prstGeom>
          <a:solidFill>
            <a:srgbClr val="00C4CC"/>
          </a:solidFill>
          <a:ln w="12700">
            <a:solidFill>
              <a:srgbClr val="00C4C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225296" y="3072384"/>
            <a:ext cx="164592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1737360" y="2999232"/>
            <a:ext cx="5577840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14213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Run kickoff workshop and validate measurable success criteria.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868680" y="3758184"/>
            <a:ext cx="6583680" cy="804672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D8E3FF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051560" y="3904488"/>
            <a:ext cx="502920" cy="502920"/>
          </a:xfrm>
          <a:prstGeom prst="roundRect">
            <a:avLst>
              <a:gd name="adj" fmla="val 14545"/>
            </a:avLst>
          </a:prstGeom>
          <a:solidFill>
            <a:srgbClr val="00C4CC"/>
          </a:solidFill>
          <a:ln w="12700">
            <a:solidFill>
              <a:srgbClr val="00C4CC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225296" y="4059936"/>
            <a:ext cx="164592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1737360" y="3986784"/>
            <a:ext cx="5577840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14213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Approve final scope and begin discovery sprint immediately.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7772400" y="1783080"/>
            <a:ext cx="3566160" cy="3611880"/>
          </a:xfrm>
          <a:prstGeom prst="roundRect">
            <a:avLst>
              <a:gd name="adj" fmla="val 2051"/>
            </a:avLst>
          </a:prstGeom>
          <a:solidFill>
            <a:srgbClr val="FFFFFF"/>
          </a:solidFill>
          <a:ln w="12700">
            <a:solidFill>
              <a:srgbClr val="D8E3F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046720" y="2029968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213D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Contact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8046720" y="2468880"/>
            <a:ext cx="2926080" cy="1234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35507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Max Kowalski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5507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max@notso.ai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5507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+31 6 40450599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8046720" y="3950208"/>
            <a:ext cx="2834640" cy="566928"/>
          </a:xfrm>
          <a:prstGeom prst="roundRect">
            <a:avLst>
              <a:gd name="adj" fmla="val 12903"/>
            </a:avLst>
          </a:prstGeom>
          <a:solidFill>
            <a:srgbClr val="7D2AE8"/>
          </a:solidFill>
          <a:ln w="12700">
            <a:solidFill>
              <a:srgbClr val="7D2AE8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8046720" y="4133088"/>
            <a:ext cx="28346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Kickoff Ready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7772400" y="4709160"/>
            <a:ext cx="1402080" cy="1051560"/>
          </a:xfrm>
          <a:prstGeom prst="roundRect">
            <a:avLst>
              <a:gd name="adj" fmla="val 6957"/>
            </a:avLst>
          </a:prstGeom>
          <a:solidFill>
            <a:srgbClr val="F8FBFF"/>
          </a:solidFill>
          <a:ln w="12700">
            <a:solidFill>
              <a:srgbClr val="00C4CC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973568" y="4855464"/>
            <a:ext cx="8229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C4C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[Image]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8686800" y="4855464"/>
            <a:ext cx="286512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31558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Missing image placeholder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7973568" y="5111496"/>
            <a:ext cx="1018032" cy="57607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45679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Slide 11 (next-steps) :: Premium SaaS illustration for Next Steps slide. Animated chatbot context for Acme Client. Brand palette #0B1F4D, #00C4CC, #7D2AE8. No text overlays.</a:t>
            </a:r>
            <a:endParaRPr lang="en-US" sz="800" dirty="0"/>
          </a:p>
        </p:txBody>
      </p:sp>
      <p:sp>
        <p:nvSpPr>
          <p:cNvPr id="29" name="Shape 27"/>
          <p:cNvSpPr/>
          <p:nvPr/>
        </p:nvSpPr>
        <p:spPr>
          <a:xfrm>
            <a:off x="0" y="6419088"/>
            <a:ext cx="12191695" cy="438912"/>
          </a:xfrm>
          <a:prstGeom prst="rect">
            <a:avLst/>
          </a:prstGeom>
          <a:solidFill>
            <a:srgbClr val="0B1F4D"/>
          </a:solidFill>
          <a:ln w="12700">
            <a:solidFill>
              <a:srgbClr val="0B1F4D">
                <a:alpha val="0"/>
              </a:srgbClr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02920" y="6547104"/>
            <a:ext cx="50292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Notso AI  |  v1.0</a:t>
            </a:r>
            <a:endParaRPr lang="en-US" sz="800" dirty="0"/>
          </a:p>
        </p:txBody>
      </p:sp>
      <p:sp>
        <p:nvSpPr>
          <p:cNvPr id="31" name="Text 29"/>
          <p:cNvSpPr/>
          <p:nvPr/>
        </p:nvSpPr>
        <p:spPr>
          <a:xfrm>
            <a:off x="10789920" y="6547104"/>
            <a:ext cx="9144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11 / 11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Sor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Inter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Notso AI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Acme Client Animated Chatbot Proposal - Acme Client</dc:title>
  <dc:subject>Acme Client Animated Chatbot Proposal for Acme Client</dc:subject>
  <dc:creator>Max Kowalski</dc:creator>
  <cp:lastModifiedBy>Max Kowalski</cp:lastModifiedBy>
  <cp:revision>1</cp:revision>
  <dcterms:created xsi:type="dcterms:W3CDTF">2026-03-23T13:20:19Z</dcterms:created>
  <dcterms:modified xsi:type="dcterms:W3CDTF">2026-03-23T13:20:19Z</dcterms:modified>
</cp:coreProperties>
</file>