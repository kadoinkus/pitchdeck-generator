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543800" y="-1097280"/>
            <a:ext cx="5669280" cy="5669280"/>
          </a:xfrm>
          <a:prstGeom prst="ellipse">
            <a:avLst/>
          </a:prstGeom>
          <a:solidFill>
            <a:srgbClr val="7D2AE8">
              <a:alpha val="14000"/>
            </a:srgbClr>
          </a:solidFill>
          <a:ln w="12700">
            <a:solidFill>
              <a:srgbClr val="7D2A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126480" y="2377440"/>
            <a:ext cx="4754880" cy="4754880"/>
          </a:xfrm>
          <a:prstGeom prst="ellipse">
            <a:avLst/>
          </a:prstGeom>
          <a:solidFill>
            <a:srgbClr val="00C4CC">
              <a:alpha val="12000"/>
            </a:srgbClr>
          </a:solidFill>
          <a:ln w="12700">
            <a:solidFill>
              <a:srgbClr val="00C4CC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46720" y="0"/>
            <a:ext cx="4142232" cy="6858000"/>
          </a:xfrm>
          <a:prstGeom prst="round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05840"/>
            <a:ext cx="676656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Acme Client Animated Chatbot Proposal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713232" y="2240280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premium conversational assistant strategy for Acme Client.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3147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Prepared for Acme Client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13232" y="3840480"/>
            <a:ext cx="6720840" cy="1097280"/>
          </a:xfrm>
          <a:prstGeom prst="roundRect">
            <a:avLst>
              <a:gd name="adj" fmla="val 6667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1E1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4069080"/>
            <a:ext cx="621792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Objective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D37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and launch an animated chatbot for acme-client.com that improves response quality, qualification speed, and conversion confidence.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595360" y="1097280"/>
            <a:ext cx="283464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Notso AI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8595360" y="1828800"/>
            <a:ext cx="28346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4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Animated Chatbot Proposal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8595360" y="2743200"/>
            <a:ext cx="2834640" cy="475488"/>
          </a:xfrm>
          <a:prstGeom prst="roundRect">
            <a:avLst>
              <a:gd name="adj" fmla="val 1538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595360" y="2889504"/>
            <a:ext cx="2834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Deck Proposal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0" y="331012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800" dirty="0">
                <a:solidFill>
                  <a:srgbClr val="DCE9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https://www.acme-client.com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8595360" y="3703320"/>
            <a:ext cx="2834640" cy="1463040"/>
          </a:xfrm>
          <a:prstGeom prst="roundRect">
            <a:avLst>
              <a:gd name="adj" fmla="val 5000"/>
            </a:avLst>
          </a:prstGeom>
          <a:solidFill>
            <a:srgbClr val="FFFFFF">
              <a:alpha val="92000"/>
            </a:srgbClr>
          </a:solidFill>
          <a:ln w="12700">
            <a:solidFill>
              <a:srgbClr val="D2DAE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96528" y="3977640"/>
            <a:ext cx="2468880" cy="1051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version: v1.0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A335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11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Client Situation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blocking growth today.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Create urgency with concrete pain points.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Acme Client loses momentum when visitors cannot get instant answers on acme-client.com.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and pre-sales requests are repeated manually across channels.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automated journeys lack distinctive brand voice and visual character.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clear baseline of current friction and missed opportunities. This anchors every design and budget decision that follows.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/ 11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Concept Direction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animated chatbot experience we propose.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Define the strategic concept in simple terms.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animated chatbot persona aligned with Notso AI brand expression.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Guide users through concise decision paths with clear outcomes in each turn.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 copy and prompts easy to update so the concept evolves without redesigning slides.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Stakeholders align on one concept narrative before visual and technical production starts.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Experience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the assistant should look and feel.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Translate brand into interface and motion.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language combines high-contrast readability with calm, premium motion.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interactions prioritize quick intent routing and obvious next actions.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 system supports future channels while preserving consistent UX behavior.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Brand personality becomes tangible through animation behavior, interaction rhythm, and visual hierarchy.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users move through key chatbot journeys.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interaction logic and clarity.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Opening script establishes value in two exchanges and offers focused intent options.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Mid-flow logic handles FAQs, qualification, and objections with adaptive follow-ups.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logic escalates to human support with complete conversation context.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get fast, guided responses while the business keeps control over quality and escalation paths.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Solution Architecture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system components and integrations.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Prove feasibility and operational ownership.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786384" y="1783080"/>
            <a:ext cx="6583680" cy="4206240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t"/>
          <a:lstStyle/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Widget layer, orchestration layer, and analytics layer remain cleanly separated.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Prompt/content management can be updated by non-technical stakeholders.</a:t>
            </a:r>
            <a:endParaRPr lang="en-US" sz="1800" dirty="0"/>
          </a:p>
          <a:p>
            <a:pPr marL="203200" indent="-203200">
              <a:buSzPct val="100000"/>
              <a:buChar char="•"/>
            </a:pPr>
            <a:r>
              <a:rPr lang="en-US" sz="18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tracks intent usage, drop-offs, and conversion influence per flow.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7726680" y="1856232"/>
            <a:ext cx="3794760" cy="3611880"/>
          </a:xfrm>
          <a:prstGeom prst="roundRect">
            <a:avLst>
              <a:gd name="adj" fmla="val 2025"/>
            </a:avLst>
          </a:prstGeom>
          <a:solidFill>
            <a:srgbClr val="F5F8FF"/>
          </a:solidFill>
          <a:ln w="12700">
            <a:solidFill>
              <a:srgbClr val="D5E0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01000" y="2167128"/>
            <a:ext cx="365760" cy="36576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03920" y="22128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Outcome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028432" y="2651760"/>
            <a:ext cx="3182112" cy="25603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6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Delivery remains maintainable: content can be updated quickly, integrations stay modular, and metrics are measurable.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Design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visual directions for the chatbot.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Give clear style choices and trade-offs.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2296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7043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A - Brand Mascot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1556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Friendly character-led interface with expressive motion cues.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1772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6519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B - Premium Concierge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1032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Elegant assistant aesthetic with restrained animation.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412480" y="1874520"/>
            <a:ext cx="3401568" cy="3822192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9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86800" y="2148840"/>
            <a:ext cx="2834640" cy="384048"/>
          </a:xfrm>
          <a:prstGeom prst="roundRect">
            <a:avLst>
              <a:gd name="adj" fmla="val 14286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759952" y="2267712"/>
            <a:ext cx="265176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Option C - Product Specialist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705088" y="2697480"/>
            <a:ext cx="2834640" cy="2697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2D457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Utility-first UI with rapid decision support.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Timeline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kickoff to launch in clear phases.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Show pace, ownership, and milestones.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32804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9328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229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058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1-2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baseline metrics, and outcome framing.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96646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6188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5090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918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3-4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6918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Concept storyboard, visual direction, and scripted prototype.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52510" y="2304288"/>
            <a:ext cx="228600" cy="0"/>
          </a:xfrm>
          <a:prstGeom prst="line">
            <a:avLst/>
          </a:prstGeom>
          <a:noFill/>
          <a:ln w="12700">
            <a:solidFill>
              <a:srgbClr val="A8BF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0491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9506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8FA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37794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5-6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7794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implementation, integration, and QA.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990963" y="2121408"/>
            <a:ext cx="237744" cy="237744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81110" y="2468880"/>
            <a:ext cx="2457450" cy="3063240"/>
          </a:xfrm>
          <a:prstGeom prst="roundRect">
            <a:avLst>
              <a:gd name="adj" fmla="val 2977"/>
            </a:avLst>
          </a:prstGeom>
          <a:solidFill>
            <a:srgbClr val="F4F7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063990" y="2743200"/>
            <a:ext cx="213741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Week 7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9063990" y="3246120"/>
            <a:ext cx="2137410" cy="20574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3D56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preparation, enablement, and optimization backlog.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Pricing Options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packages based on scope and velocity.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Make commercial decisions easier.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Starter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8.500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109728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28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assistant experience, 3 user flows, launch setup.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EEF8FF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Growth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89204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14.500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89204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Expanded flows, richer animation system, analytics dashboard.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458200" y="1783080"/>
            <a:ext cx="3401568" cy="3931920"/>
          </a:xfrm>
          <a:prstGeom prst="roundRect">
            <a:avLst>
              <a:gd name="adj" fmla="val 2151"/>
            </a:avLst>
          </a:prstGeom>
          <a:solidFill>
            <a:srgbClr val="F8FAFF"/>
          </a:solidFill>
          <a:ln w="12700">
            <a:solidFill>
              <a:srgbClr val="D7E2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0" y="2057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Scale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686800" y="2606040"/>
            <a:ext cx="2926080" cy="38404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7D2AE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EUR 22.000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8686800" y="3081528"/>
            <a:ext cx="2834640" cy="0"/>
          </a:xfrm>
          <a:prstGeom prst="line">
            <a:avLst/>
          </a:prstGeom>
          <a:noFill/>
          <a:ln w="12700">
            <a:solidFill>
              <a:srgbClr val="D4DEF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686800" y="3246120"/>
            <a:ext cx="2926080" cy="21945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7507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Multi-language rollout, CRM integrations, optimization loop.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 &amp; Responsibilities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does what across delivery.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Build trust in execution capability.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0020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Strategy Lead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60020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problem framing, priorities, and decision velocity.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46520" y="178308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02552" y="213969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178040" y="205740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Conversation Designer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178040" y="240487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Designs scripts, guardrails, and fallback behavior.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6868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2471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60020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Motion/UI Designer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60020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Crafts visual identity and animated interaction language.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46520" y="3291840"/>
            <a:ext cx="5074920" cy="1234440"/>
          </a:xfrm>
          <a:prstGeom prst="roundRect">
            <a:avLst>
              <a:gd name="adj" fmla="val 5926"/>
            </a:avLst>
          </a:prstGeom>
          <a:solidFill>
            <a:srgbClr val="F7FAFF"/>
          </a:solidFill>
          <a:ln w="12700">
            <a:solidFill>
              <a:srgbClr val="D7E3F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702552" y="3648456"/>
            <a:ext cx="320040" cy="320040"/>
          </a:xfrm>
          <a:prstGeom prst="ellipse">
            <a:avLst/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178040" y="356616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Implementation Engineer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78040" y="3913632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3C55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Delivers integration, release hardening, and monitoring.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0"/>
          </a:xfrm>
          <a:prstGeom prst="rect">
            <a:avLst/>
          </a:prstGeom>
          <a:solidFill>
            <a:srgbClr val="F4F8FF"/>
          </a:solidFill>
          <a:ln w="12700">
            <a:solidFill>
              <a:srgbClr val="F4F8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48640" y="658368"/>
            <a:ext cx="10972800" cy="0"/>
          </a:xfrm>
          <a:prstGeom prst="line">
            <a:avLst/>
          </a:prstGeom>
          <a:noFill/>
          <a:ln w="12700">
            <a:solidFill>
              <a:srgbClr val="D7E3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94360" y="86868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Next Steps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94360" y="126187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B5A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points and kickoff actions.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8321040" y="896112"/>
            <a:ext cx="3383280" cy="502920"/>
          </a:xfrm>
          <a:prstGeom prst="roundRect">
            <a:avLst>
              <a:gd name="adj" fmla="val 14545"/>
            </a:avLst>
          </a:prstGeom>
          <a:solidFill>
            <a:srgbClr val="E9F8FA"/>
          </a:solidFill>
          <a:ln w="12700">
            <a:solidFill>
              <a:srgbClr val="C2F0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67344" y="1042416"/>
            <a:ext cx="3063240" cy="23774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00" dirty="0">
                <a:solidFill>
                  <a:srgbClr val="0F3A5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Convert alignment into action.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868680" y="1783080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51560" y="1929384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25296" y="2084832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737360" y="2011680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 direction, package, and decision stakeholders.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2770632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51560" y="2916936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25296" y="3072384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999232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kickoff workshop and validate measurable success criteria.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868680" y="3758184"/>
            <a:ext cx="6583680" cy="804672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3904488"/>
            <a:ext cx="502920" cy="502920"/>
          </a:xfrm>
          <a:prstGeom prst="roundRect">
            <a:avLst>
              <a:gd name="adj" fmla="val 14545"/>
            </a:avLst>
          </a:prstGeom>
          <a:solidFill>
            <a:srgbClr val="00C4CC"/>
          </a:solidFill>
          <a:ln w="12700">
            <a:solidFill>
              <a:srgbClr val="00C4C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225296" y="4059936"/>
            <a:ext cx="164592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737360" y="3986784"/>
            <a:ext cx="55778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023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 final scope and begin discovery sprint immediately.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772400" y="1783080"/>
            <a:ext cx="3566160" cy="361188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8E3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46720" y="2029968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3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Contact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046720" y="2468880"/>
            <a:ext cx="292608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 Kowalski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max@notso.ai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5507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+31 6 40450599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046720" y="3950208"/>
            <a:ext cx="2834640" cy="566928"/>
          </a:xfrm>
          <a:prstGeom prst="roundRect">
            <a:avLst>
              <a:gd name="adj" fmla="val 12903"/>
            </a:avLst>
          </a:prstGeom>
          <a:solidFill>
            <a:srgbClr val="7D2AE8"/>
          </a:solidFill>
          <a:ln w="12700">
            <a:solidFill>
              <a:srgbClr val="7D2AE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0" y="4133088"/>
            <a:ext cx="2834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Kickoff Ready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0" y="6419088"/>
            <a:ext cx="12191695" cy="438912"/>
          </a:xfrm>
          <a:prstGeom prst="rect">
            <a:avLst/>
          </a:prstGeom>
          <a:solidFill>
            <a:srgbClr val="0B1F4D"/>
          </a:solidFill>
          <a:ln w="12700">
            <a:solidFill>
              <a:srgbClr val="0B1F4D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6547104"/>
            <a:ext cx="50292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Notso AI  |  v1.0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0789920" y="6547104"/>
            <a:ext cx="914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 / 11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Notso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Acme Client Animated Chatbot Proposal - Acme Client</dc:title>
  <dc:subject>Acme Client Animated Chatbot Proposal for Acme Client</dc:subject>
  <dc:creator>Max Kowalski</dc:creator>
  <cp:lastModifiedBy>Max Kowalski</cp:lastModifiedBy>
  <cp:revision>1</cp:revision>
  <dcterms:created xsi:type="dcterms:W3CDTF">2026-03-23T12:29:44Z</dcterms:created>
  <dcterms:modified xsi:type="dcterms:W3CDTF">2026-03-23T12:29:44Z</dcterms:modified>
</cp:coreProperties>
</file>