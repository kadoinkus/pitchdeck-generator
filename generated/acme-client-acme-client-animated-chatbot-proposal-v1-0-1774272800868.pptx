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-1097280"/>
            <a:ext cx="5669280" cy="5669280"/>
          </a:xfrm>
          <a:prstGeom prst="ellipse">
            <a:avLst/>
          </a:prstGeom>
          <a:solidFill>
            <a:srgbClr val="7D2AE8">
              <a:alpha val="14000"/>
            </a:srgbClr>
          </a:solidFill>
          <a:ln w="12700">
            <a:solidFill>
              <a:srgbClr val="7D2A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2377440"/>
            <a:ext cx="4754880" cy="4754880"/>
          </a:xfrm>
          <a:prstGeom prst="ellipse">
            <a:avLst/>
          </a:prstGeom>
          <a:solidFill>
            <a:srgbClr val="00C4CC">
              <a:alpha val="12000"/>
            </a:srgbClr>
          </a:solidFill>
          <a:ln w="12700">
            <a:solidFill>
              <a:srgbClr val="00C4C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2232" cy="6858000"/>
          </a:xfrm>
          <a:prstGeom prst="round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Acme Client Animated Chatbot Proposal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premium conversational assistant strategy for Acme Client.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Prepared for Acme Client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3840480"/>
            <a:ext cx="672084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1E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0690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and launch an animated chatbot for acme-client.com that improves response quality, qualification speed, and conversion confidence.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0" y="10972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Notso AI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595360" y="18288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Animated Chatbot Proposal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95360" y="274320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88950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Pitch Deck Proposal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95360" y="331012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CE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https://www.acme-client.com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595360" y="370332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2DA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96528" y="39776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Deck version: v1.0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 Kowalski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max@notso.ai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595360" y="5166360"/>
            <a:ext cx="1983232" cy="1115568"/>
          </a:xfrm>
          <a:prstGeom prst="roundRect">
            <a:avLst>
              <a:gd name="adj" fmla="val 65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96528" y="53126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509760" y="5312664"/>
            <a:ext cx="867664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796528" y="5568696"/>
            <a:ext cx="1599184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 (title) :: Premium SaaS illustration for Animated Chatbot Proposal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/ 11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Client Situation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blocking growth today.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Create urgency with concrete pain points.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78308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D5E1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4128" y="2011680"/>
            <a:ext cx="310896" cy="310896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33856" y="2112264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426464" y="1975104"/>
            <a:ext cx="2670048" cy="9418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Acme Client loses momentum when visitors cannot get instant answers on acme-client.com.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34840" y="178308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D5E1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36008" y="2011680"/>
            <a:ext cx="310896" cy="310896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45736" y="2112264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38344" y="1975104"/>
            <a:ext cx="2670048" cy="9418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and pre-sales requests are repeated manually across channels.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178308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D5E1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47888" y="2011680"/>
            <a:ext cx="310896" cy="310896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57616" y="2112264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650224" y="1975104"/>
            <a:ext cx="2670048" cy="9418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automated journeys lack distinctive brand voice and visual character.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3291840"/>
            <a:ext cx="68122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7E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0704" y="35478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Why This Matters Now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3794760"/>
            <a:ext cx="6355080" cy="1417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3E5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Acme Client loses momentum when visitors cannot get instant answers on acme-client.com.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3E5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and pre-sales requests are repeated manually across channels.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863840" y="342900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65008" y="357530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778240" y="3575304"/>
            <a:ext cx="144475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065008" y="3831336"/>
            <a:ext cx="2176272" cy="1444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2 (client-situation) :: Premium SaaS illustration for Client Situation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Concept Direction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animated chatbot experience we propose.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Define the strategic concept in simple terms.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783080"/>
            <a:ext cx="672084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6E2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202996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Build an animated chatbot persona aligned with Notso AI brand expression.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87552" y="2971800"/>
            <a:ext cx="6355080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E58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Guide users through concise decision paths with clear outcomes in each turn.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E58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copy and prompts easy to update so the concept evolves without redesigning slides.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26680" y="178308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7FAFF"/>
          </a:solidFill>
          <a:ln w="12700">
            <a:solidFill>
              <a:srgbClr val="D6E2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73568" y="2011680"/>
            <a:ext cx="3017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Concept Pillars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882128" y="2240280"/>
            <a:ext cx="3200400" cy="1508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415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an animated chatbot persona aligned with Notso AI brand expression.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415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Guide users through concise decision paths with clear outcomes in each turn.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415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copy and prompts easy to update so the concept evolves without redesigning slides.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973568" y="4069080"/>
            <a:ext cx="132588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74736" y="42153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887968" y="4215384"/>
            <a:ext cx="2103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174736" y="4471416"/>
            <a:ext cx="941832" cy="8503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3 (concept) :: Premium SaaS illustration for Concept Direction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Experience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the assistant should look and feel.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Translate brand into interface and motion.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783080"/>
            <a:ext cx="2578608" cy="2377440"/>
          </a:xfrm>
          <a:prstGeom prst="roundRect">
            <a:avLst>
              <a:gd name="adj" fmla="val 3077"/>
            </a:avLst>
          </a:prstGeom>
          <a:solidFill>
            <a:srgbClr val="F8FBFF"/>
          </a:solidFill>
          <a:ln w="12700">
            <a:solidFill>
              <a:srgbClr val="D8E2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93392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40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05840" y="2267712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05B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language combines high-contrast readability with calm, premium motion.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11880" y="1783080"/>
            <a:ext cx="2578608" cy="2377440"/>
          </a:xfrm>
          <a:prstGeom prst="roundRect">
            <a:avLst>
              <a:gd name="adj" fmla="val 3077"/>
            </a:avLst>
          </a:prstGeom>
          <a:solidFill>
            <a:srgbClr val="F8FBFF"/>
          </a:solidFill>
          <a:ln w="12700">
            <a:solidFill>
              <a:srgbClr val="D8E2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94760" y="1993392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40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794760" y="2267712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05B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interactions prioritize quick intent routing and obvious next actions.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1783080"/>
            <a:ext cx="2578608" cy="2377440"/>
          </a:xfrm>
          <a:prstGeom prst="roundRect">
            <a:avLst>
              <a:gd name="adj" fmla="val 3077"/>
            </a:avLst>
          </a:prstGeom>
          <a:solidFill>
            <a:srgbClr val="F8FBFF"/>
          </a:solidFill>
          <a:ln w="12700">
            <a:solidFill>
              <a:srgbClr val="D8E2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993392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40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583680" y="2267712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05B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Component system supports future channels while preserving consistent UX behavior.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89720" y="1783080"/>
            <a:ext cx="2578608" cy="2377440"/>
          </a:xfrm>
          <a:prstGeom prst="roundRect">
            <a:avLst>
              <a:gd name="adj" fmla="val 3077"/>
            </a:avLst>
          </a:prstGeom>
          <a:solidFill>
            <a:srgbClr val="F8FBFF"/>
          </a:solidFill>
          <a:ln w="12700">
            <a:solidFill>
              <a:srgbClr val="D8E2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72600" y="1993392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40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372600" y="2267712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05B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panel 4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4343400"/>
            <a:ext cx="3794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E1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0704" y="4590288"/>
            <a:ext cx="29260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Visual Direction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60704" y="482803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6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interface clean with calm motion and explicit next actions.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46320" y="4343400"/>
            <a:ext cx="186944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47488" y="448970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60720" y="4489704"/>
            <a:ext cx="75387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47488" y="4745736"/>
            <a:ext cx="148539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4 (experience-design) :: Premium SaaS illustration for Experience Design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Conversation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users move through key chatbot journeys.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Show interaction logic and clarity.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783080"/>
            <a:ext cx="104698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2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34440" y="2542032"/>
            <a:ext cx="9601200" cy="0"/>
          </a:xfrm>
          <a:prstGeom prst="line">
            <a:avLst/>
          </a:prstGeom>
          <a:noFill/>
          <a:ln w="12700">
            <a:solidFill>
              <a:srgbClr val="BFD0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88720" y="2350008"/>
            <a:ext cx="384048" cy="384048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35024" y="2487168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86968" y="2816352"/>
            <a:ext cx="1024128" cy="786384"/>
          </a:xfrm>
          <a:prstGeom prst="roundRect">
            <a:avLst>
              <a:gd name="adj" fmla="val 6977"/>
            </a:avLst>
          </a:prstGeom>
          <a:solidFill>
            <a:srgbClr val="F8FBFF"/>
          </a:solidFill>
          <a:ln w="12700">
            <a:solidFill>
              <a:srgbClr val="D5E0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907792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35C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Opening script establishes value in two exchanges and offers focused intent options.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806440" y="2350008"/>
            <a:ext cx="384048" cy="384048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52744" y="2487168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504688" y="2816352"/>
            <a:ext cx="1024128" cy="786384"/>
          </a:xfrm>
          <a:prstGeom prst="roundRect">
            <a:avLst>
              <a:gd name="adj" fmla="val 6977"/>
            </a:avLst>
          </a:prstGeom>
          <a:solidFill>
            <a:srgbClr val="F8FBFF"/>
          </a:solidFill>
          <a:ln w="12700">
            <a:solidFill>
              <a:srgbClr val="D5E0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0" y="2907792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35C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Mid-flow logic handles FAQs, qualification, and objections with adaptive follow-ups.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0424160" y="2350008"/>
            <a:ext cx="384048" cy="384048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70464" y="2487168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0122408" y="2816352"/>
            <a:ext cx="1024128" cy="786384"/>
          </a:xfrm>
          <a:prstGeom prst="roundRect">
            <a:avLst>
              <a:gd name="adj" fmla="val 6977"/>
            </a:avLst>
          </a:prstGeom>
          <a:solidFill>
            <a:srgbClr val="F8FBFF"/>
          </a:solidFill>
          <a:ln w="12700">
            <a:solidFill>
              <a:srgbClr val="D5E0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95560" y="2907792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35C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Fallback logic escalates to human support with complete conversation context.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822960" y="4069080"/>
            <a:ext cx="384048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D8E2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4334256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Conversation Goal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51560" y="4590288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962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 intent routing with clear handoff to human support when needed.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92040" y="4069080"/>
            <a:ext cx="235712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93208" y="42153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06440" y="4215384"/>
            <a:ext cx="124155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93208" y="4471416"/>
            <a:ext cx="1973072" cy="8503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5 (conversation-design) :: Premium SaaS illustration for Conversation Design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Solution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system components and integrations.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Prove feasibility and operational ownership.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783080"/>
            <a:ext cx="649224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8E2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01168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Layered Delivery Model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51560" y="2359152"/>
            <a:ext cx="6035040" cy="786384"/>
          </a:xfrm>
          <a:prstGeom prst="roundRect">
            <a:avLst>
              <a:gd name="adj" fmla="val 6977"/>
            </a:avLst>
          </a:prstGeom>
          <a:solidFill>
            <a:srgbClr val="F4F8FF"/>
          </a:solidFill>
          <a:ln w="12700">
            <a:solidFill>
              <a:srgbClr val="D5E1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43584" y="2542032"/>
            <a:ext cx="310896" cy="310896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44168" y="264261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L1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682496" y="2532888"/>
            <a:ext cx="525780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15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Widget layer, orchestration layer, and analytics layer remain cleanly separated.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51560" y="3328416"/>
            <a:ext cx="6035040" cy="786384"/>
          </a:xfrm>
          <a:prstGeom prst="roundRect">
            <a:avLst>
              <a:gd name="adj" fmla="val 6977"/>
            </a:avLst>
          </a:prstGeom>
          <a:solidFill>
            <a:srgbClr val="F8FBFF"/>
          </a:solidFill>
          <a:ln w="12700">
            <a:solidFill>
              <a:srgbClr val="D5E1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43584" y="3511296"/>
            <a:ext cx="310896" cy="310896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44168" y="3611880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L2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682496" y="3502152"/>
            <a:ext cx="525780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15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Prompt/content management can be updated by non-technical stakeholders.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51560" y="4297680"/>
            <a:ext cx="6035040" cy="786384"/>
          </a:xfrm>
          <a:prstGeom prst="roundRect">
            <a:avLst>
              <a:gd name="adj" fmla="val 6977"/>
            </a:avLst>
          </a:prstGeom>
          <a:solidFill>
            <a:srgbClr val="F4F8FF"/>
          </a:solidFill>
          <a:ln w="12700">
            <a:solidFill>
              <a:srgbClr val="D5E1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43584" y="4480560"/>
            <a:ext cx="310896" cy="310896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44168" y="4581144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L3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682496" y="4471416"/>
            <a:ext cx="525780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15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Telemetry tracks intent usage, drop-offs, and conversion influence per flow.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589520" y="1783080"/>
            <a:ext cx="3749040" cy="3611880"/>
          </a:xfrm>
          <a:prstGeom prst="roundRect">
            <a:avLst>
              <a:gd name="adj" fmla="val 2025"/>
            </a:avLst>
          </a:prstGeom>
          <a:solidFill>
            <a:srgbClr val="F8FBFF"/>
          </a:solidFill>
          <a:ln w="12700">
            <a:solidFill>
              <a:srgbClr val="D8E2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54112" y="2011680"/>
            <a:ext cx="3401568" cy="17373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415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Widget layer, orchestration layer, and analytics layer remain cleanly separated.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415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Prompt/content management can be updated by non-technical stakeholders.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772400" y="3886200"/>
            <a:ext cx="176784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73568" y="403250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686800" y="4032504"/>
            <a:ext cx="65227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973568" y="4288536"/>
            <a:ext cx="1383792" cy="8503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6 (architecture) :: Premium SaaS illustration for Solution Architecture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/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Design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visual directions for the chatbot.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Give clear style choices and trade-offs.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 A - Brand Mascot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556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Friendly character-led interface with expressive motion cues.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1772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519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 B - Premium Concierge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1032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Elegant assistant aesthetic with restrained animation.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41248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5995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 C - Product Specialist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0508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Utility-first UI with rapid decision support.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01000" y="4956048"/>
            <a:ext cx="1060704" cy="1060704"/>
          </a:xfrm>
          <a:prstGeom prst="roundRect">
            <a:avLst>
              <a:gd name="adj" fmla="val 689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02168" y="510235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915400" y="5102352"/>
            <a:ext cx="-54864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02168" y="5358384"/>
            <a:ext cx="676656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7 (design-options) :: Premium SaaS illustration for Design Options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Implementation Timeline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kickoff to launch in clear phases.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Show pace, ownership, and milestones.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804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328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Week 1-2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Discovery, baseline metrics, and outcome framing.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6646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88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090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918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Week 3-4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918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 storyboard, visual direction, and scripted prototype.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525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049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50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79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Week 5-6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779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implementation, integration, and QA.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9909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811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639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Week 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0639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 preparation, enablement, and optimization backlog.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909560" y="4956048"/>
            <a:ext cx="1885696" cy="1060704"/>
          </a:xfrm>
          <a:prstGeom prst="roundRect">
            <a:avLst>
              <a:gd name="adj" fmla="val 689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10728" y="510235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823960" y="5102352"/>
            <a:ext cx="770128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110728" y="5358384"/>
            <a:ext cx="1501648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8 (timeline) :: Premium SaaS illustration for Implementation Timeline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Pricing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Flexible packages based on scope and velocity.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Make commercial decisions easier.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Starter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EUR 8.500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9728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assistant experience, 3 user flows, launch setup.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EEF8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Growth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EUR 14.500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89204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Expanded flows, richer animation system, analytics dashboard.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5820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Scale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EUR 22.000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68680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Multi-language rollout, CRM integrations, optimization loop.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909560" y="4937760"/>
            <a:ext cx="1463040" cy="1097280"/>
          </a:xfrm>
          <a:prstGeom prst="roundRect">
            <a:avLst>
              <a:gd name="adj" fmla="val 666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10728" y="50840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823960" y="508406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110728" y="5340096"/>
            <a:ext cx="1078992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9 (pricing) :: Premium SaaS illustration for Pricing Options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Team &amp; Responsibilities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does what across delivery.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Build trust in execution capability.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471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Strategy Lead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0020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Owns problem framing, priorities, and decision velocity.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4652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0255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Conversation Designer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7804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Designs scripts, guardrails, and fallback behavior.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868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471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020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Motion/UI Designer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0020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Crafts visual identity and animated interaction language.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4652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0255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Implementation Engineer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7804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Delivers integration, release hardening, and monitoring.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909560" y="498348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1072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823960" y="5129784"/>
            <a:ext cx="-64008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110728" y="5385816"/>
            <a:ext cx="6675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10 (team) :: Premium SaaS illustration for Team &amp; Responsibilities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points and kickoff actions.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Convert alignment into action.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192938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84832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201168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 direction, package, and decision stakeholders.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2770632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29169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3072384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2999232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kickoff workshop and validate measurable success criteria.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3758184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390448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4059936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37360" y="3986784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 final scope and begin discovery sprint immediately.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0" y="1783080"/>
            <a:ext cx="3566160" cy="36118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20299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Contact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0" y="246888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 Kowalski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max@notso.ai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+31 6 40450599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46720" y="3950208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413308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Kickoff Ready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0" y="4709160"/>
            <a:ext cx="140208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73568" y="48554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686800" y="4855464"/>
            <a:ext cx="286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973568" y="5111496"/>
            <a:ext cx="101803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11 (next-steps) :: Premium SaaS illustration for Next Steps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Acme Client Animated Chatbot Proposal - Acme Client</dc:title>
  <dc:subject>Acme Client Animated Chatbot Proposal for Acme Client</dc:subject>
  <dc:creator>Max Kowalski</dc:creator>
  <cp:lastModifiedBy>Max Kowalski</cp:lastModifiedBy>
  <cp:revision>1</cp:revision>
  <dcterms:created xsi:type="dcterms:W3CDTF">2026-03-23T13:33:20Z</dcterms:created>
  <dcterms:modified xsi:type="dcterms:W3CDTF">2026-03-23T13:33:20Z</dcterms:modified>
</cp:coreProperties>
</file>